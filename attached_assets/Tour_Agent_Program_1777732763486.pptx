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74" r:id="rId4"/>
    <p:sldId id="273" r:id="rId5"/>
    <p:sldId id="258" r:id="rId6"/>
    <p:sldId id="259" r:id="rId7"/>
    <p:sldId id="275" r:id="rId8"/>
    <p:sldId id="276" r:id="rId9"/>
    <p:sldId id="264" r:id="rId10"/>
    <p:sldId id="272"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78" y="9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9B55D3-3DA3-43B8-A577-9A642CD28200}"/>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589CADD0-8C0D-411D-8FDD-23AFAEEDFC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987C4286-A058-4F55-A56F-207FAC023D37}"/>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5" name="Нижний колонтитул 4">
            <a:extLst>
              <a:ext uri="{FF2B5EF4-FFF2-40B4-BE49-F238E27FC236}">
                <a16:creationId xmlns:a16="http://schemas.microsoft.com/office/drawing/2014/main" id="{9CEE3377-BEAB-4DFF-BB6F-E28560CC72F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03F4F51-6C1C-4D84-A55A-202DE0CD392D}"/>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1001558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048C1F-52FD-4EE3-866B-36EDCC12B3A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5F4FE08-1CE0-4A97-B141-FA34AF320C9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98D4AC0-1CB7-48E8-9875-7B0432C5EE71}"/>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5" name="Нижний колонтитул 4">
            <a:extLst>
              <a:ext uri="{FF2B5EF4-FFF2-40B4-BE49-F238E27FC236}">
                <a16:creationId xmlns:a16="http://schemas.microsoft.com/office/drawing/2014/main" id="{DF59F3E4-6745-4887-B8DC-B181E52B9D7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CBF2EB1-E061-49C7-9695-E2033EC69DAF}"/>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4210210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E0086A-4C2F-4CCD-8C38-24900F53294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6DCA6DD-AAD6-407B-9D04-7A33F63361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C9A2C75-0E87-4AF1-8B9F-9D16C78D29AB}"/>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5" name="Нижний колонтитул 4">
            <a:extLst>
              <a:ext uri="{FF2B5EF4-FFF2-40B4-BE49-F238E27FC236}">
                <a16:creationId xmlns:a16="http://schemas.microsoft.com/office/drawing/2014/main" id="{F5181B90-C645-44B9-B9B3-7A0930E38BD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A61E5F1-4359-4B8F-8C2B-AF29031041E3}"/>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1857416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129E51-C176-4348-B621-DBF45D4F424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B9C9099-2230-4C3A-99B8-56256BB9CAD8}"/>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2F980E5-C8C7-4054-85A7-A9218E1515B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6E7BB25D-906B-413B-A0C5-60B07E38E902}"/>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6" name="Нижний колонтитул 5">
            <a:extLst>
              <a:ext uri="{FF2B5EF4-FFF2-40B4-BE49-F238E27FC236}">
                <a16:creationId xmlns:a16="http://schemas.microsoft.com/office/drawing/2014/main" id="{7F7F58D3-621F-4BAF-9E68-EF0393882B2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3FAD987-DC9B-42C5-9E2D-37BA8FE0AF9F}"/>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56181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D86526-964B-4B74-B127-7DB8488CADA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A0A5546B-E3CE-4C2A-A562-EBF2243628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948BC443-46D3-416A-B8F6-550D0CAB18DB}"/>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4E5B2A2F-9B1A-4F33-B3E9-45BA4273A3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A63CBA4-4CC1-4FCF-AD11-C1799C805CC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F57B899D-8CA0-49C8-95A0-176E10330E40}"/>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8" name="Нижний колонтитул 7">
            <a:extLst>
              <a:ext uri="{FF2B5EF4-FFF2-40B4-BE49-F238E27FC236}">
                <a16:creationId xmlns:a16="http://schemas.microsoft.com/office/drawing/2014/main" id="{9CCADBDE-B9AA-4184-82BA-B72FC92C763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2F18D404-1B17-445C-B27E-3DFCBA5A2496}"/>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1341025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1E37B7-58EE-403B-8763-8B17E50C5DA6}"/>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E8CF91F1-896C-4972-9E9B-229389D286EA}"/>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4" name="Нижний колонтитул 3">
            <a:extLst>
              <a:ext uri="{FF2B5EF4-FFF2-40B4-BE49-F238E27FC236}">
                <a16:creationId xmlns:a16="http://schemas.microsoft.com/office/drawing/2014/main" id="{0D392380-4078-4764-B088-F67081D16AD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F2BEF5A-DB57-4B76-BF14-0D98FCD5BB5E}"/>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154471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4BE2BBBC-6C49-4A48-9907-C5AE7EB5F659}"/>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3" name="Нижний колонтитул 2">
            <a:extLst>
              <a:ext uri="{FF2B5EF4-FFF2-40B4-BE49-F238E27FC236}">
                <a16:creationId xmlns:a16="http://schemas.microsoft.com/office/drawing/2014/main" id="{6A0EC3D8-BD63-4D51-B20A-72410F0F7E07}"/>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1A570192-B62A-4717-A0B7-2A85EF9CC69F}"/>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2584774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56C7FD-C63D-4A23-BDF9-E0E081DD589E}"/>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C4F70D5A-3707-468D-BF93-C20DBF5CF8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659CF440-7560-429A-A0B6-6072A91D2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1CB2F70-2EBB-49FE-94E3-CED8E9DEC1ED}"/>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6" name="Нижний колонтитул 5">
            <a:extLst>
              <a:ext uri="{FF2B5EF4-FFF2-40B4-BE49-F238E27FC236}">
                <a16:creationId xmlns:a16="http://schemas.microsoft.com/office/drawing/2014/main" id="{9546AAE8-7B79-4F08-AACD-F5013A207F5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7055D02-5A33-47E8-9F0B-645CF35F6A2D}"/>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1504275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C11723-C6EF-4047-B633-176563BC37C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045D3DCC-4BE9-47F8-8732-69C2AF2DF5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EC3E076A-ADE8-4912-ABD3-C931D5195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39F7F61-B965-4312-8C50-BDEF6350236F}"/>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6" name="Нижний колонтитул 5">
            <a:extLst>
              <a:ext uri="{FF2B5EF4-FFF2-40B4-BE49-F238E27FC236}">
                <a16:creationId xmlns:a16="http://schemas.microsoft.com/office/drawing/2014/main" id="{85154256-C785-4873-80AA-C0F8C7C12F5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2C81887-8D4B-4BBA-9DF0-F97C6CD0F85D}"/>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2441786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A1A480-F980-47AD-A96C-0C9BFA8CD02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99BAEFB4-BA2C-4167-837D-5256DEFDBA86}"/>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E5E3A2F-F898-4A19-8F84-0DB7609920EE}"/>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5" name="Нижний колонтитул 4">
            <a:extLst>
              <a:ext uri="{FF2B5EF4-FFF2-40B4-BE49-F238E27FC236}">
                <a16:creationId xmlns:a16="http://schemas.microsoft.com/office/drawing/2014/main" id="{EF73D0D7-8857-4F9C-A398-165AE4DB952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23C9B99-1C35-495D-A04A-CBA46534F51E}"/>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803393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5269DEBA-F92E-47AE-8209-550E46DB7C8A}"/>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076DA02C-F19C-495F-A667-DFA67C1B8AC1}"/>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907397F-0100-4E7D-AA47-C797A7ABF9F9}"/>
              </a:ext>
            </a:extLst>
          </p:cNvPr>
          <p:cNvSpPr>
            <a:spLocks noGrp="1"/>
          </p:cNvSpPr>
          <p:nvPr>
            <p:ph type="dt" sz="half" idx="10"/>
          </p:nvPr>
        </p:nvSpPr>
        <p:spPr/>
        <p:txBody>
          <a:bodyPr/>
          <a:lstStyle/>
          <a:p>
            <a:fld id="{2C1AE0D8-E107-46AF-B0B6-B8C0A3E14834}" type="datetimeFigureOut">
              <a:rPr lang="ru-RU" smtClean="0"/>
              <a:t>28.04.2026</a:t>
            </a:fld>
            <a:endParaRPr lang="ru-RU"/>
          </a:p>
        </p:txBody>
      </p:sp>
      <p:sp>
        <p:nvSpPr>
          <p:cNvPr id="5" name="Нижний колонтитул 4">
            <a:extLst>
              <a:ext uri="{FF2B5EF4-FFF2-40B4-BE49-F238E27FC236}">
                <a16:creationId xmlns:a16="http://schemas.microsoft.com/office/drawing/2014/main" id="{43647112-776C-428F-B800-BE82F633F60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BCF915E-086D-4B65-B4D3-4B0FE8798E16}"/>
              </a:ext>
            </a:extLst>
          </p:cNvPr>
          <p:cNvSpPr>
            <a:spLocks noGrp="1"/>
          </p:cNvSpPr>
          <p:nvPr>
            <p:ph type="sldNum" sz="quarter" idx="12"/>
          </p:nvPr>
        </p:nvSpPr>
        <p:spPr/>
        <p:txBody>
          <a:bodyPr/>
          <a:lstStyle/>
          <a:p>
            <a:fld id="{F78606D0-9580-416A-B78D-133934976A93}" type="slidenum">
              <a:rPr lang="ru-RU" smtClean="0"/>
              <a:t>‹#›</a:t>
            </a:fld>
            <a:endParaRPr lang="ru-RU"/>
          </a:p>
        </p:txBody>
      </p:sp>
    </p:spTree>
    <p:extLst>
      <p:ext uri="{BB962C8B-B14F-4D97-AF65-F5344CB8AC3E}">
        <p14:creationId xmlns:p14="http://schemas.microsoft.com/office/powerpoint/2010/main" val="1583362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5000"/>
            <a:lum/>
          </a:blip>
          <a:srcRect/>
          <a:tile tx="0" ty="0" sx="100000" sy="100000" flip="none" algn="tl"/>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F8C08A-6788-4922-B2AA-6CF24446DA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6F4BE19-55FD-41D1-9A26-447076C367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DC6CC41-608F-436A-968C-288D93EED9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AE0D8-E107-46AF-B0B6-B8C0A3E14834}" type="datetimeFigureOut">
              <a:rPr lang="ru-RU" smtClean="0"/>
              <a:t>28.04.2026</a:t>
            </a:fld>
            <a:endParaRPr lang="ru-RU"/>
          </a:p>
        </p:txBody>
      </p:sp>
      <p:sp>
        <p:nvSpPr>
          <p:cNvPr id="5" name="Нижний колонтитул 4">
            <a:extLst>
              <a:ext uri="{FF2B5EF4-FFF2-40B4-BE49-F238E27FC236}">
                <a16:creationId xmlns:a16="http://schemas.microsoft.com/office/drawing/2014/main" id="{BE227F95-0519-4CC3-B7DF-856E4133A3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A2CCF555-555E-4F3C-9466-F3B7E4961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8606D0-9580-416A-B78D-133934976A93}" type="slidenum">
              <a:rPr lang="ru-RU" smtClean="0"/>
              <a:t>‹#›</a:t>
            </a:fld>
            <a:endParaRPr lang="ru-RU"/>
          </a:p>
        </p:txBody>
      </p:sp>
    </p:spTree>
    <p:extLst>
      <p:ext uri="{BB962C8B-B14F-4D97-AF65-F5344CB8AC3E}">
        <p14:creationId xmlns:p14="http://schemas.microsoft.com/office/powerpoint/2010/main" val="329328392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bunyodtour.tj/"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bunyodtour.tj/" TargetMode="Externa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bunyodtour.tj/" TargetMode="External"/><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57E029-B415-48CE-BAC5-224B2F1122AA}"/>
              </a:ext>
            </a:extLst>
          </p:cNvPr>
          <p:cNvSpPr>
            <a:spLocks noGrp="1"/>
          </p:cNvSpPr>
          <p:nvPr>
            <p:ph type="ctrTitle"/>
          </p:nvPr>
        </p:nvSpPr>
        <p:spPr>
          <a:xfrm>
            <a:off x="1454943" y="1608203"/>
            <a:ext cx="9282113" cy="2387600"/>
          </a:xfrm>
        </p:spPr>
        <p:txBody>
          <a:bodyPr>
            <a:normAutofit fontScale="90000"/>
          </a:bodyPr>
          <a:lstStyle/>
          <a:p>
            <a:r>
              <a:rPr lang="en-US" b="1" cap="all" dirty="0">
                <a:solidFill>
                  <a:srgbClr val="002060"/>
                </a:solidFill>
                <a:latin typeface="Bahnschrift" panose="020B0502040204020203" pitchFamily="34" charset="0"/>
              </a:rPr>
              <a:t>Affiliate program</a:t>
            </a:r>
            <a:br>
              <a:rPr lang="ru-RU" b="1" cap="all" dirty="0">
                <a:solidFill>
                  <a:srgbClr val="002060"/>
                </a:solidFill>
                <a:latin typeface="Bahnschrift" panose="020B0502040204020203" pitchFamily="34" charset="0"/>
              </a:rPr>
            </a:br>
            <a:r>
              <a:rPr lang="ru-RU" sz="11500" b="1" cap="all" dirty="0">
                <a:solidFill>
                  <a:srgbClr val="002060"/>
                </a:solidFill>
                <a:latin typeface="Bahnschrift" panose="020B0502040204020203" pitchFamily="34" charset="0"/>
              </a:rPr>
              <a:t>«</a:t>
            </a:r>
            <a:r>
              <a:rPr lang="en-US" sz="11500" b="1" cap="all" dirty="0">
                <a:solidFill>
                  <a:srgbClr val="002060"/>
                </a:solidFill>
                <a:latin typeface="Bahnschrift" panose="020B0502040204020203" pitchFamily="34" charset="0"/>
              </a:rPr>
              <a:t>TOUR AGENT</a:t>
            </a:r>
            <a:r>
              <a:rPr lang="ru-RU" sz="11500" b="1" cap="all" dirty="0">
                <a:solidFill>
                  <a:srgbClr val="002060"/>
                </a:solidFill>
                <a:latin typeface="Bahnschrift" panose="020B0502040204020203" pitchFamily="34" charset="0"/>
              </a:rPr>
              <a:t>»</a:t>
            </a:r>
            <a:endParaRPr lang="ru-RU" dirty="0">
              <a:solidFill>
                <a:srgbClr val="002060"/>
              </a:solidFill>
              <a:latin typeface="Bahnschrift" panose="020B0502040204020203" pitchFamily="34" charset="0"/>
            </a:endParaRPr>
          </a:p>
        </p:txBody>
      </p:sp>
      <p:pic>
        <p:nvPicPr>
          <p:cNvPr id="5" name="Рисунок 4">
            <a:extLst>
              <a:ext uri="{FF2B5EF4-FFF2-40B4-BE49-F238E27FC236}">
                <a16:creationId xmlns:a16="http://schemas.microsoft.com/office/drawing/2014/main" id="{2E77974B-230E-432F-8EF0-F42385B569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8324" y="4618826"/>
            <a:ext cx="5939709" cy="1321468"/>
          </a:xfrm>
          <a:prstGeom prst="rect">
            <a:avLst/>
          </a:prstGeom>
        </p:spPr>
      </p:pic>
    </p:spTree>
    <p:extLst>
      <p:ext uri="{BB962C8B-B14F-4D97-AF65-F5344CB8AC3E}">
        <p14:creationId xmlns:p14="http://schemas.microsoft.com/office/powerpoint/2010/main" val="3879368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AA2BC1BD-19FB-434E-B674-308E17E88E9D}"/>
              </a:ext>
            </a:extLst>
          </p:cNvPr>
          <p:cNvSpPr>
            <a:spLocks noGrp="1"/>
          </p:cNvSpPr>
          <p:nvPr>
            <p:ph type="title"/>
          </p:nvPr>
        </p:nvSpPr>
        <p:spPr>
          <a:xfrm>
            <a:off x="839789" y="678581"/>
            <a:ext cx="3560762" cy="1599106"/>
          </a:xfrm>
        </p:spPr>
        <p:txBody>
          <a:bodyPr anchor="t">
            <a:normAutofit/>
          </a:bodyPr>
          <a:lstStyle/>
          <a:p>
            <a:r>
              <a:rPr lang="en-US" sz="3600" b="1" cap="all" dirty="0">
                <a:solidFill>
                  <a:srgbClr val="002060"/>
                </a:solidFill>
                <a:latin typeface="Bahnschrift" panose="020B0502040204020203" pitchFamily="34" charset="0"/>
                <a:cs typeface="Arial" panose="020B0604020202020204" pitchFamily="34" charset="0"/>
              </a:rPr>
              <a:t>PROGRAM PURPOSE</a:t>
            </a:r>
            <a:endParaRPr lang="ru-RU" sz="3600" b="1" dirty="0">
              <a:solidFill>
                <a:srgbClr val="002060"/>
              </a:solidFill>
              <a:latin typeface="Bahnschrift" panose="020B0502040204020203" pitchFamily="34" charset="0"/>
              <a:cs typeface="Arial" panose="020B0604020202020204" pitchFamily="34" charset="0"/>
            </a:endParaRPr>
          </a:p>
        </p:txBody>
      </p:sp>
      <p:pic>
        <p:nvPicPr>
          <p:cNvPr id="8" name="Рисунок 7">
            <a:extLst>
              <a:ext uri="{FF2B5EF4-FFF2-40B4-BE49-F238E27FC236}">
                <a16:creationId xmlns:a16="http://schemas.microsoft.com/office/drawing/2014/main" id="{996E66E8-27FB-4933-BDE9-939744C84EDC}"/>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5786" r="6587"/>
          <a:stretch/>
        </p:blipFill>
        <p:spPr>
          <a:xfrm>
            <a:off x="4772025" y="678581"/>
            <a:ext cx="6781800" cy="5400340"/>
          </a:xfrm>
          <a:prstGeom prst="rect">
            <a:avLst/>
          </a:prstGeom>
          <a:ln>
            <a:noFill/>
          </a:ln>
          <a:effectLst>
            <a:outerShdw blurRad="292100" dist="139700" dir="2700000" algn="tl" rotWithShape="0">
              <a:srgbClr val="333333">
                <a:alpha val="65000"/>
              </a:srgbClr>
            </a:outerShdw>
          </a:effectLst>
        </p:spPr>
      </p:pic>
      <p:sp>
        <p:nvSpPr>
          <p:cNvPr id="6" name="Текст 5">
            <a:extLst>
              <a:ext uri="{FF2B5EF4-FFF2-40B4-BE49-F238E27FC236}">
                <a16:creationId xmlns:a16="http://schemas.microsoft.com/office/drawing/2014/main" id="{9AC77105-48AF-465B-B82E-1DE6120C99FB}"/>
              </a:ext>
            </a:extLst>
          </p:cNvPr>
          <p:cNvSpPr>
            <a:spLocks noGrp="1"/>
          </p:cNvSpPr>
          <p:nvPr>
            <p:ph type="body" sz="half" idx="2"/>
          </p:nvPr>
        </p:nvSpPr>
        <p:spPr>
          <a:xfrm>
            <a:off x="839788" y="1990725"/>
            <a:ext cx="3817937" cy="4255194"/>
          </a:xfrm>
        </p:spPr>
        <p:txBody>
          <a:bodyPr>
            <a:normAutofit/>
          </a:bodyPr>
          <a:lstStyle/>
          <a:p>
            <a:pPr>
              <a:lnSpc>
                <a:spcPct val="100000"/>
              </a:lnSpc>
            </a:pPr>
            <a:r>
              <a:rPr lang="en-US" sz="2400" dirty="0">
                <a:latin typeface="Bahnschrift" panose="020B0502040204020203" pitchFamily="34" charset="0"/>
                <a:cs typeface="Arial" panose="020B0604020202020204" pitchFamily="34" charset="0"/>
              </a:rPr>
              <a:t>This program, within the framework of the activities of Bunyod-Tour LLC, is presented as a loyal partner platform, a condition for cooperation and an opportunity to find an accessible place and type of employment (profession) for relevant groups of people.</a:t>
            </a:r>
            <a:endParaRPr lang="ru-RU" sz="2400" dirty="0">
              <a:latin typeface="Bahnschrift" panose="020B0502040204020203" pitchFamily="34" charset="0"/>
              <a:cs typeface="Arial" panose="020B0604020202020204" pitchFamily="34" charset="0"/>
            </a:endParaRPr>
          </a:p>
        </p:txBody>
      </p:sp>
    </p:spTree>
    <p:extLst>
      <p:ext uri="{BB962C8B-B14F-4D97-AF65-F5344CB8AC3E}">
        <p14:creationId xmlns:p14="http://schemas.microsoft.com/office/powerpoint/2010/main" val="1921595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AA2BC1BD-19FB-434E-B674-308E17E88E9D}"/>
              </a:ext>
            </a:extLst>
          </p:cNvPr>
          <p:cNvSpPr>
            <a:spLocks noGrp="1"/>
          </p:cNvSpPr>
          <p:nvPr>
            <p:ph type="title"/>
          </p:nvPr>
        </p:nvSpPr>
        <p:spPr>
          <a:xfrm>
            <a:off x="839788" y="678581"/>
            <a:ext cx="5427662" cy="940669"/>
          </a:xfrm>
        </p:spPr>
        <p:txBody>
          <a:bodyPr anchor="t">
            <a:normAutofit/>
          </a:bodyPr>
          <a:lstStyle/>
          <a:p>
            <a:r>
              <a:rPr lang="en-US" sz="3600" b="1" cap="all" dirty="0">
                <a:solidFill>
                  <a:srgbClr val="002060"/>
                </a:solidFill>
                <a:latin typeface="Bahnschrift" panose="020B0502040204020203" pitchFamily="34" charset="0"/>
                <a:cs typeface="Arial" panose="020B0604020202020204" pitchFamily="34" charset="0"/>
              </a:rPr>
              <a:t>BUNYYOD-TOUR LLC</a:t>
            </a:r>
            <a:endParaRPr lang="ru-RU" sz="3600" b="1" dirty="0">
              <a:solidFill>
                <a:srgbClr val="002060"/>
              </a:solidFill>
              <a:latin typeface="Bahnschrift" panose="020B0502040204020203" pitchFamily="34" charset="0"/>
              <a:cs typeface="Arial" panose="020B0604020202020204" pitchFamily="34" charset="0"/>
            </a:endParaRPr>
          </a:p>
        </p:txBody>
      </p:sp>
      <p:pic>
        <p:nvPicPr>
          <p:cNvPr id="8" name="Рисунок 7">
            <a:extLst>
              <a:ext uri="{FF2B5EF4-FFF2-40B4-BE49-F238E27FC236}">
                <a16:creationId xmlns:a16="http://schemas.microsoft.com/office/drawing/2014/main" id="{996E66E8-27FB-4933-BDE9-939744C84ED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10220325" y="221382"/>
            <a:ext cx="1526380" cy="1526380"/>
          </a:xfrm>
          <a:prstGeom prst="rect">
            <a:avLst/>
          </a:prstGeom>
          <a:ln>
            <a:noFill/>
          </a:ln>
          <a:effectLst>
            <a:outerShdw blurRad="292100" dist="139700" dir="2700000" algn="tl" rotWithShape="0">
              <a:srgbClr val="333333">
                <a:alpha val="65000"/>
              </a:srgbClr>
            </a:outerShdw>
          </a:effectLst>
        </p:spPr>
      </p:pic>
      <p:sp>
        <p:nvSpPr>
          <p:cNvPr id="6" name="Текст 5">
            <a:extLst>
              <a:ext uri="{FF2B5EF4-FFF2-40B4-BE49-F238E27FC236}">
                <a16:creationId xmlns:a16="http://schemas.microsoft.com/office/drawing/2014/main" id="{9AC77105-48AF-465B-B82E-1DE6120C99FB}"/>
              </a:ext>
            </a:extLst>
          </p:cNvPr>
          <p:cNvSpPr>
            <a:spLocks noGrp="1"/>
          </p:cNvSpPr>
          <p:nvPr>
            <p:ph type="body" sz="half" idx="2"/>
          </p:nvPr>
        </p:nvSpPr>
        <p:spPr>
          <a:xfrm>
            <a:off x="839788" y="1619250"/>
            <a:ext cx="10771188" cy="4560169"/>
          </a:xfrm>
        </p:spPr>
        <p:txBody>
          <a:bodyPr>
            <a:normAutofit/>
          </a:bodyPr>
          <a:lstStyle/>
          <a:p>
            <a:pPr>
              <a:lnSpc>
                <a:spcPct val="100000"/>
              </a:lnSpc>
            </a:pPr>
            <a:r>
              <a:rPr lang="en-US" sz="2400" dirty="0">
                <a:latin typeface="Bahnschrift" panose="020B0502040204020203" pitchFamily="34" charset="0"/>
                <a:cs typeface="Arial" panose="020B0604020202020204" pitchFamily="34" charset="0"/>
              </a:rPr>
              <a:t>Limited Liability Company "Bunyod-Tour" is a regional travel company founded in 2017 in Dushanbe, Tajikistan (license No. 0000253 dated October 25, 2022). Its primary activity is inbound tourism, aimed at welcoming foreign tourists and providing them with services in Tajikistan and Central Asia</a:t>
            </a:r>
            <a:r>
              <a:rPr lang="ru-RU" sz="2400" dirty="0">
                <a:latin typeface="Bahnschrift" panose="020B0502040204020203" pitchFamily="34" charset="0"/>
                <a:cs typeface="Arial" panose="020B0604020202020204" pitchFamily="34" charset="0"/>
              </a:rPr>
              <a:t>.   </a:t>
            </a:r>
          </a:p>
          <a:p>
            <a:pPr>
              <a:lnSpc>
                <a:spcPct val="100000"/>
              </a:lnSpc>
            </a:pPr>
            <a:r>
              <a:rPr lang="en-US" sz="2400" dirty="0">
                <a:latin typeface="Bahnschrift" panose="020B0502040204020203" pitchFamily="34" charset="0"/>
                <a:cs typeface="Arial" panose="020B0604020202020204" pitchFamily="34" charset="0"/>
              </a:rPr>
              <a:t>Bunyod-Tour operates an online portal for booking tourism products (one of the first in Central Asia), offers over 200 tourist routes (tours), provides transportation (transfers) and tour guiding services, and features an independent, autonomous (online) tourist route development system. The company collaborates with over 50 regional and international organizations. In particular, it has established partners in Central Asian countries and offers combined (regional) tours.</a:t>
            </a:r>
            <a:endParaRPr lang="ru-RU" sz="3600" dirty="0">
              <a:latin typeface="Bahnschrift" panose="020B0502040204020203" pitchFamily="34" charset="0"/>
              <a:cs typeface="Arial" panose="020B0604020202020204" pitchFamily="34" charset="0"/>
            </a:endParaRPr>
          </a:p>
        </p:txBody>
      </p:sp>
    </p:spTree>
    <p:extLst>
      <p:ext uri="{BB962C8B-B14F-4D97-AF65-F5344CB8AC3E}">
        <p14:creationId xmlns:p14="http://schemas.microsoft.com/office/powerpoint/2010/main" val="4139870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AA2BC1BD-19FB-434E-B674-308E17E88E9D}"/>
              </a:ext>
            </a:extLst>
          </p:cNvPr>
          <p:cNvSpPr>
            <a:spLocks noGrp="1"/>
          </p:cNvSpPr>
          <p:nvPr>
            <p:ph type="title"/>
          </p:nvPr>
        </p:nvSpPr>
        <p:spPr>
          <a:xfrm>
            <a:off x="839788" y="678581"/>
            <a:ext cx="7799387" cy="1216722"/>
          </a:xfrm>
        </p:spPr>
        <p:txBody>
          <a:bodyPr anchor="t">
            <a:normAutofit/>
          </a:bodyPr>
          <a:lstStyle/>
          <a:p>
            <a:r>
              <a:rPr lang="en-US" b="1" cap="all" dirty="0">
                <a:solidFill>
                  <a:srgbClr val="002060"/>
                </a:solidFill>
                <a:latin typeface="Bahnschrift" panose="020B0502040204020203" pitchFamily="34" charset="0"/>
                <a:cs typeface="Arial" panose="020B0604020202020204" pitchFamily="34" charset="0"/>
              </a:rPr>
              <a:t>Who can become a tour partner (TOUR agent)?</a:t>
            </a:r>
            <a:endParaRPr lang="ru-RU" b="1" dirty="0">
              <a:solidFill>
                <a:srgbClr val="002060"/>
              </a:solidFill>
              <a:latin typeface="Bahnschrift" panose="020B0502040204020203" pitchFamily="34" charset="0"/>
              <a:cs typeface="Arial" panose="020B0604020202020204" pitchFamily="34" charset="0"/>
            </a:endParaRPr>
          </a:p>
        </p:txBody>
      </p:sp>
      <p:pic>
        <p:nvPicPr>
          <p:cNvPr id="8" name="Рисунок 7">
            <a:extLst>
              <a:ext uri="{FF2B5EF4-FFF2-40B4-BE49-F238E27FC236}">
                <a16:creationId xmlns:a16="http://schemas.microsoft.com/office/drawing/2014/main" id="{996E66E8-27FB-4933-BDE9-939744C84EDC}"/>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5786" r="6587"/>
          <a:stretch/>
        </p:blipFill>
        <p:spPr>
          <a:xfrm>
            <a:off x="5667375" y="2875281"/>
            <a:ext cx="5967706" cy="3370638"/>
          </a:xfrm>
          <a:prstGeom prst="rect">
            <a:avLst/>
          </a:prstGeom>
          <a:ln>
            <a:noFill/>
          </a:ln>
          <a:effectLst>
            <a:outerShdw blurRad="292100" dist="139700" dir="2700000" algn="tl" rotWithShape="0">
              <a:srgbClr val="333333">
                <a:alpha val="65000"/>
              </a:srgbClr>
            </a:outerShdw>
          </a:effectLst>
        </p:spPr>
      </p:pic>
      <p:sp>
        <p:nvSpPr>
          <p:cNvPr id="6" name="Текст 5">
            <a:extLst>
              <a:ext uri="{FF2B5EF4-FFF2-40B4-BE49-F238E27FC236}">
                <a16:creationId xmlns:a16="http://schemas.microsoft.com/office/drawing/2014/main" id="{9AC77105-48AF-465B-B82E-1DE6120C99FB}"/>
              </a:ext>
            </a:extLst>
          </p:cNvPr>
          <p:cNvSpPr>
            <a:spLocks noGrp="1"/>
          </p:cNvSpPr>
          <p:nvPr>
            <p:ph type="body" sz="half" idx="2"/>
          </p:nvPr>
        </p:nvSpPr>
        <p:spPr>
          <a:xfrm>
            <a:off x="839788" y="1895303"/>
            <a:ext cx="4827587" cy="4350616"/>
          </a:xfrm>
        </p:spPr>
        <p:txBody>
          <a:bodyPr>
            <a:normAutofit lnSpcReduction="10000"/>
          </a:bodyPr>
          <a:lstStyle/>
          <a:p>
            <a:pPr>
              <a:lnSpc>
                <a:spcPct val="110000"/>
              </a:lnSpc>
            </a:pPr>
            <a:r>
              <a:rPr lang="en-US" sz="2400" dirty="0">
                <a:latin typeface="Bahnschrift" panose="020B0502040204020203" pitchFamily="34" charset="0"/>
                <a:cs typeface="Arial" panose="020B0604020202020204" pitchFamily="34" charset="0"/>
              </a:rPr>
              <a:t>The following groups can become our tour partners</a:t>
            </a:r>
            <a:r>
              <a:rPr lang="tg-Cyrl-TJ" sz="2400" dirty="0">
                <a:latin typeface="Bahnschrift" panose="020B0502040204020203" pitchFamily="34" charset="0"/>
                <a:cs typeface="Arial" panose="020B0604020202020204" pitchFamily="34" charset="0"/>
              </a:rPr>
              <a:t>:</a:t>
            </a:r>
          </a:p>
          <a:p>
            <a:pPr marL="342900" indent="-342900">
              <a:lnSpc>
                <a:spcPct val="110000"/>
              </a:lnSpc>
              <a:buFont typeface="Wingdings" panose="05000000000000000000" pitchFamily="2" charset="2"/>
              <a:buChar char="ü"/>
            </a:pPr>
            <a:r>
              <a:rPr lang="en-US" sz="2400" dirty="0">
                <a:latin typeface="Bahnschrift" panose="020B0502040204020203" pitchFamily="34" charset="0"/>
                <a:cs typeface="Arial" panose="020B0604020202020204" pitchFamily="34" charset="0"/>
              </a:rPr>
              <a:t>travel companies;</a:t>
            </a:r>
          </a:p>
          <a:p>
            <a:pPr marL="342900" indent="-342900">
              <a:lnSpc>
                <a:spcPct val="110000"/>
              </a:lnSpc>
              <a:buFont typeface="Wingdings" panose="05000000000000000000" pitchFamily="2" charset="2"/>
              <a:buChar char="ü"/>
            </a:pPr>
            <a:r>
              <a:rPr lang="en-US" sz="2400" dirty="0">
                <a:latin typeface="Bahnschrift" panose="020B0502040204020203" pitchFamily="34" charset="0"/>
                <a:cs typeface="Arial" panose="020B0604020202020204" pitchFamily="34" charset="0"/>
              </a:rPr>
              <a:t>bloggers;</a:t>
            </a:r>
          </a:p>
          <a:p>
            <a:pPr marL="342900" indent="-342900">
              <a:lnSpc>
                <a:spcPct val="110000"/>
              </a:lnSpc>
              <a:buFont typeface="Wingdings" panose="05000000000000000000" pitchFamily="2" charset="2"/>
              <a:buChar char="ü"/>
            </a:pPr>
            <a:r>
              <a:rPr lang="en-US" sz="2400" dirty="0">
                <a:latin typeface="Bahnschrift" panose="020B0502040204020203" pitchFamily="34" charset="0"/>
                <a:cs typeface="Arial" panose="020B0604020202020204" pitchFamily="34" charset="0"/>
              </a:rPr>
              <a:t>travel industry specialists;</a:t>
            </a:r>
          </a:p>
          <a:p>
            <a:pPr marL="342900" indent="-342900">
              <a:lnSpc>
                <a:spcPct val="110000"/>
              </a:lnSpc>
              <a:buFont typeface="Wingdings" panose="05000000000000000000" pitchFamily="2" charset="2"/>
              <a:buChar char="ü"/>
            </a:pPr>
            <a:r>
              <a:rPr lang="en-US" sz="2400" dirty="0">
                <a:latin typeface="Bahnschrift" panose="020B0502040204020203" pitchFamily="34" charset="0"/>
                <a:cs typeface="Arial" panose="020B0604020202020204" pitchFamily="34" charset="0"/>
              </a:rPr>
              <a:t>interns;</a:t>
            </a:r>
          </a:p>
          <a:p>
            <a:pPr marL="342900" indent="-342900">
              <a:lnSpc>
                <a:spcPct val="110000"/>
              </a:lnSpc>
              <a:buFont typeface="Wingdings" panose="05000000000000000000" pitchFamily="2" charset="2"/>
              <a:buChar char="ü"/>
            </a:pPr>
            <a:r>
              <a:rPr lang="en-US" sz="2400" dirty="0">
                <a:latin typeface="Bahnschrift" panose="020B0502040204020203" pitchFamily="34" charset="0"/>
                <a:cs typeface="Arial" panose="020B0604020202020204" pitchFamily="34" charset="0"/>
              </a:rPr>
              <a:t>freelancers;</a:t>
            </a:r>
          </a:p>
          <a:p>
            <a:pPr marL="342900" indent="-342900">
              <a:lnSpc>
                <a:spcPct val="110000"/>
              </a:lnSpc>
              <a:buFont typeface="Wingdings" panose="05000000000000000000" pitchFamily="2" charset="2"/>
              <a:buChar char="ü"/>
            </a:pPr>
            <a:r>
              <a:rPr lang="en-US" sz="2400" dirty="0">
                <a:latin typeface="Bahnschrift" panose="020B0502040204020203" pitchFamily="34" charset="0"/>
                <a:cs typeface="Arial" panose="020B0604020202020204" pitchFamily="34" charset="0"/>
              </a:rPr>
              <a:t>job seekers, as well as students</a:t>
            </a:r>
            <a:r>
              <a:rPr lang="ru-RU" sz="2400" dirty="0">
                <a:latin typeface="Bahnschrift" panose="020B0502040204020203" pitchFamily="34" charset="0"/>
                <a:cs typeface="Arial" panose="020B0604020202020204" pitchFamily="34" charset="0"/>
              </a:rPr>
              <a:t>.</a:t>
            </a:r>
          </a:p>
        </p:txBody>
      </p:sp>
      <p:pic>
        <p:nvPicPr>
          <p:cNvPr id="5" name="Рисунок 7">
            <a:extLst>
              <a:ext uri="{FF2B5EF4-FFF2-40B4-BE49-F238E27FC236}">
                <a16:creationId xmlns:a16="http://schemas.microsoft.com/office/drawing/2014/main" id="{741A2938-CDC6-4933-ACC2-9D0166B10D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7425" y="364257"/>
            <a:ext cx="1964530" cy="19645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39639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EFD35F-8BFC-44D8-A779-23B4CF1B8652}"/>
              </a:ext>
            </a:extLst>
          </p:cNvPr>
          <p:cNvSpPr>
            <a:spLocks noGrp="1"/>
          </p:cNvSpPr>
          <p:nvPr>
            <p:ph type="title"/>
          </p:nvPr>
        </p:nvSpPr>
        <p:spPr>
          <a:xfrm>
            <a:off x="1058465" y="669923"/>
            <a:ext cx="7434904" cy="831851"/>
          </a:xfrm>
        </p:spPr>
        <p:txBody>
          <a:bodyPr anchor="t">
            <a:noAutofit/>
          </a:bodyPr>
          <a:lstStyle/>
          <a:p>
            <a:r>
              <a:rPr lang="en-US" b="1" dirty="0">
                <a:solidFill>
                  <a:srgbClr val="002060"/>
                </a:solidFill>
                <a:latin typeface="Bahnschrift" panose="020B0502040204020203" pitchFamily="34" charset="0"/>
                <a:cs typeface="Arial" panose="020B0604020202020204" pitchFamily="34" charset="0"/>
              </a:rPr>
              <a:t>WHAT ARE THE MAIN RESPONSIBILITIES OF A TOUR AGENT?</a:t>
            </a:r>
            <a:endParaRPr lang="ru-RU" b="1" dirty="0">
              <a:solidFill>
                <a:srgbClr val="002060"/>
              </a:solidFill>
              <a:latin typeface="Bahnschrift" panose="020B0502040204020203" pitchFamily="34" charset="0"/>
              <a:cs typeface="Arial" panose="020B0604020202020204" pitchFamily="34" charset="0"/>
            </a:endParaRPr>
          </a:p>
        </p:txBody>
      </p:sp>
      <p:sp>
        <p:nvSpPr>
          <p:cNvPr id="4" name="Текст 3">
            <a:extLst>
              <a:ext uri="{FF2B5EF4-FFF2-40B4-BE49-F238E27FC236}">
                <a16:creationId xmlns:a16="http://schemas.microsoft.com/office/drawing/2014/main" id="{A84E60D9-AFAD-4BF6-9E39-24C1B3E7A4C1}"/>
              </a:ext>
            </a:extLst>
          </p:cNvPr>
          <p:cNvSpPr>
            <a:spLocks noGrp="1"/>
          </p:cNvSpPr>
          <p:nvPr>
            <p:ph type="body" sz="half" idx="2"/>
          </p:nvPr>
        </p:nvSpPr>
        <p:spPr>
          <a:xfrm>
            <a:off x="1058463" y="2000250"/>
            <a:ext cx="9070275" cy="4407768"/>
          </a:xfrm>
        </p:spPr>
        <p:txBody>
          <a:bodyPr>
            <a:noAutofit/>
          </a:bodyPr>
          <a:lstStyle/>
          <a:p>
            <a:pPr marL="457200" indent="-457200">
              <a:buAutoNum type="arabicPeriod"/>
            </a:pPr>
            <a:r>
              <a:rPr lang="en-US" sz="2600" dirty="0">
                <a:latin typeface="Bahnschrift" panose="020B0502040204020203" pitchFamily="34" charset="0"/>
                <a:cs typeface="Arial" panose="020B0604020202020204" pitchFamily="34" charset="0"/>
              </a:rPr>
              <a:t>Through the website </a:t>
            </a:r>
            <a:r>
              <a:rPr lang="tg-Cyrl-TJ" sz="2600" u="sng" dirty="0">
                <a:latin typeface="Bahnschrift" panose="020B0502040204020203" pitchFamily="34" charset="0"/>
                <a:cs typeface="Arial" panose="020B0604020202020204" pitchFamily="34" charset="0"/>
                <a:hlinkClick r:id="rId2"/>
              </a:rPr>
              <a:t>https://bunyodtour.tj</a:t>
            </a:r>
            <a:r>
              <a:rPr lang="tg-Cyrl-TJ" sz="2600" dirty="0">
                <a:latin typeface="Bahnschrift" panose="020B0502040204020203" pitchFamily="34" charset="0"/>
                <a:cs typeface="Arial" panose="020B0604020202020204" pitchFamily="34" charset="0"/>
              </a:rPr>
              <a:t>:</a:t>
            </a:r>
          </a:p>
          <a:p>
            <a:pPr marL="914400" lvl="1" indent="-457200">
              <a:buFont typeface="+mj-lt"/>
              <a:buAutoNum type="alphaLcParenR"/>
            </a:pPr>
            <a:r>
              <a:rPr lang="en-US" sz="2400" dirty="0">
                <a:latin typeface="Bahnschrift" panose="020B0502040204020203" pitchFamily="34" charset="0"/>
                <a:cs typeface="Arial" panose="020B0604020202020204" pitchFamily="34" charset="0"/>
              </a:rPr>
              <a:t>Selling tourist products (tour packages) to tourists</a:t>
            </a:r>
            <a:r>
              <a:rPr lang="tg-Cyrl-TJ" sz="2400" dirty="0">
                <a:latin typeface="Bahnschrift" panose="020B0502040204020203" pitchFamily="34" charset="0"/>
                <a:cs typeface="Arial" panose="020B0604020202020204" pitchFamily="34" charset="0"/>
              </a:rPr>
              <a:t>;</a:t>
            </a:r>
          </a:p>
          <a:p>
            <a:pPr marL="914400" lvl="1" indent="-457200">
              <a:buFont typeface="+mj-lt"/>
              <a:buAutoNum type="alphaLcParenR"/>
            </a:pPr>
            <a:r>
              <a:rPr lang="en-US" sz="2400" dirty="0">
                <a:latin typeface="Bahnschrift" panose="020B0502040204020203" pitchFamily="34" charset="0"/>
                <a:cs typeface="Arial" panose="020B0604020202020204" pitchFamily="34" charset="0"/>
              </a:rPr>
              <a:t>Offering tourism products (tour packages) to tourists in whatever way possible, including at exhibitions and online;</a:t>
            </a:r>
          </a:p>
          <a:p>
            <a:pPr marL="914400" lvl="1" indent="-457200">
              <a:buFont typeface="+mj-lt"/>
              <a:buAutoNum type="alphaLcParenR"/>
            </a:pPr>
            <a:r>
              <a:rPr lang="en-US" sz="2400" dirty="0">
                <a:latin typeface="Bahnschrift" panose="020B0502040204020203" pitchFamily="34" charset="0"/>
                <a:cs typeface="Arial" panose="020B0604020202020204" pitchFamily="34" charset="0"/>
              </a:rPr>
              <a:t>Advertising tourist products in whatever way possible, especially online, to attract foreign tourists.</a:t>
            </a:r>
          </a:p>
          <a:p>
            <a:pPr marL="457200" indent="-457200">
              <a:buFont typeface="+mj-lt"/>
              <a:buAutoNum type="arabicPeriod"/>
            </a:pPr>
            <a:r>
              <a:rPr lang="en-US" sz="2600" dirty="0">
                <a:latin typeface="Bahnschrift" panose="020B0502040204020203" pitchFamily="34" charset="0"/>
                <a:cs typeface="Arial" panose="020B0604020202020204" pitchFamily="34" charset="0"/>
              </a:rPr>
              <a:t>Come up with a special type of tourism product and put it into action using the Company’s capabilities.</a:t>
            </a:r>
            <a:endParaRPr lang="ru-RU" sz="2600" dirty="0">
              <a:latin typeface="Bahnschrift" panose="020B0502040204020203" pitchFamily="34" charset="0"/>
              <a:cs typeface="Arial" panose="020B0604020202020204" pitchFamily="34" charset="0"/>
            </a:endParaRPr>
          </a:p>
        </p:txBody>
      </p:sp>
      <p:pic>
        <p:nvPicPr>
          <p:cNvPr id="5" name="Рисунок 7">
            <a:extLst>
              <a:ext uri="{FF2B5EF4-FFF2-40B4-BE49-F238E27FC236}">
                <a16:creationId xmlns:a16="http://schemas.microsoft.com/office/drawing/2014/main" id="{69D394A4-5A59-441C-95B0-AF183ACBC1E2}"/>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tretch>
            <a:fillRect/>
          </a:stretch>
        </p:blipFill>
        <p:spPr>
          <a:xfrm>
            <a:off x="9591675" y="449982"/>
            <a:ext cx="2078830" cy="20788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77032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4E98B0-68A4-4623-94FC-197243AC198B}"/>
              </a:ext>
            </a:extLst>
          </p:cNvPr>
          <p:cNvSpPr>
            <a:spLocks noGrp="1"/>
          </p:cNvSpPr>
          <p:nvPr>
            <p:ph type="title"/>
          </p:nvPr>
        </p:nvSpPr>
        <p:spPr>
          <a:xfrm>
            <a:off x="1123949" y="314325"/>
            <a:ext cx="6105525" cy="899013"/>
          </a:xfrm>
        </p:spPr>
        <p:txBody>
          <a:bodyPr>
            <a:normAutofit/>
          </a:bodyPr>
          <a:lstStyle/>
          <a:p>
            <a:r>
              <a:rPr lang="en-US" b="1" dirty="0">
                <a:solidFill>
                  <a:srgbClr val="002060"/>
                </a:solidFill>
                <a:latin typeface="Bahnschrift" panose="020B0502040204020203" pitchFamily="34" charset="0"/>
              </a:rPr>
              <a:t>WHAT IS A TOURIST PRODUCT?</a:t>
            </a:r>
            <a:endParaRPr lang="ru-RU" b="1" dirty="0">
              <a:solidFill>
                <a:srgbClr val="002060"/>
              </a:solidFill>
              <a:latin typeface="Bahnschrift" panose="020B0502040204020203" pitchFamily="34" charset="0"/>
            </a:endParaRPr>
          </a:p>
        </p:txBody>
      </p:sp>
      <p:sp>
        <p:nvSpPr>
          <p:cNvPr id="4" name="Текст 3">
            <a:extLst>
              <a:ext uri="{FF2B5EF4-FFF2-40B4-BE49-F238E27FC236}">
                <a16:creationId xmlns:a16="http://schemas.microsoft.com/office/drawing/2014/main" id="{31D335E6-C9D5-4F12-A629-3A9F9440D22C}"/>
              </a:ext>
            </a:extLst>
          </p:cNvPr>
          <p:cNvSpPr>
            <a:spLocks noGrp="1"/>
          </p:cNvSpPr>
          <p:nvPr>
            <p:ph type="body" sz="half" idx="2"/>
          </p:nvPr>
        </p:nvSpPr>
        <p:spPr>
          <a:xfrm>
            <a:off x="1057275" y="1752601"/>
            <a:ext cx="4505326" cy="4619625"/>
          </a:xfrm>
        </p:spPr>
        <p:txBody>
          <a:bodyPr>
            <a:normAutofit/>
          </a:bodyPr>
          <a:lstStyle/>
          <a:p>
            <a:pPr>
              <a:lnSpc>
                <a:spcPct val="100000"/>
              </a:lnSpc>
            </a:pPr>
            <a:r>
              <a:rPr lang="en-US" sz="2400" dirty="0">
                <a:latin typeface="Bahnschrift" panose="020B0502040204020203" pitchFamily="34" charset="0"/>
              </a:rPr>
              <a:t>A tourist product is a tour and tourism service that is available for tourists and other actors to book on our website - </a:t>
            </a:r>
            <a:r>
              <a:rPr lang="en-US" sz="2400" dirty="0">
                <a:latin typeface="Bahnschrift" panose="020B0502040204020203" pitchFamily="34" charset="0"/>
                <a:hlinkClick r:id="rId2"/>
              </a:rPr>
              <a:t>https://bunyodtour.tj</a:t>
            </a:r>
            <a:endParaRPr lang="ru-RU" sz="2400" dirty="0">
              <a:latin typeface="Bahnschrift" panose="020B0502040204020203" pitchFamily="34" charset="0"/>
            </a:endParaRPr>
          </a:p>
        </p:txBody>
      </p:sp>
      <p:pic>
        <p:nvPicPr>
          <p:cNvPr id="5" name="Picture 4">
            <a:extLst>
              <a:ext uri="{FF2B5EF4-FFF2-40B4-BE49-F238E27FC236}">
                <a16:creationId xmlns:a16="http://schemas.microsoft.com/office/drawing/2014/main" id="{6670A474-F3F9-47BF-B1EE-CDDBB34C189E}"/>
              </a:ext>
            </a:extLst>
          </p:cNvPr>
          <p:cNvPicPr>
            <a:picLocks noChangeAspect="1"/>
          </p:cNvPicPr>
          <p:nvPr/>
        </p:nvPicPr>
        <p:blipFill>
          <a:blip r:embed="rId3"/>
          <a:stretch>
            <a:fillRect/>
          </a:stretch>
        </p:blipFill>
        <p:spPr>
          <a:xfrm>
            <a:off x="5691728" y="1608490"/>
            <a:ext cx="5938297" cy="4792310"/>
          </a:xfrm>
          <a:prstGeom prst="rect">
            <a:avLst/>
          </a:prstGeom>
          <a:ln>
            <a:noFill/>
          </a:ln>
          <a:effectLst>
            <a:outerShdw blurRad="190500" algn="tl" rotWithShape="0">
              <a:srgbClr val="000000">
                <a:alpha val="70000"/>
              </a:srgbClr>
            </a:outerShdw>
          </a:effectLst>
        </p:spPr>
      </p:pic>
      <p:pic>
        <p:nvPicPr>
          <p:cNvPr id="8" name="Рисунок 7">
            <a:extLst>
              <a:ext uri="{FF2B5EF4-FFF2-40B4-BE49-F238E27FC236}">
                <a16:creationId xmlns:a16="http://schemas.microsoft.com/office/drawing/2014/main" id="{1A36CC87-AABF-4EE2-A8F3-55C1019523F6}"/>
              </a:ext>
            </a:extLst>
          </p:cNvPr>
          <p:cNvPicPr>
            <a:picLocks noGrp="1" noChangeAspect="1"/>
          </p:cNvPicPr>
          <p:nvPr>
            <p:ph type="pic" idx="1"/>
          </p:nvPr>
        </p:nvPicPr>
        <p:blipFill>
          <a:blip r:embed="rId4">
            <a:extLst>
              <a:ext uri="{28A0092B-C50C-407E-A947-70E740481C1C}">
                <a14:useLocalDpi xmlns:a14="http://schemas.microsoft.com/office/drawing/2010/main" val="0"/>
              </a:ext>
            </a:extLst>
          </a:blip>
          <a:stretch>
            <a:fillRect/>
          </a:stretch>
        </p:blipFill>
        <p:spPr>
          <a:xfrm>
            <a:off x="1057275" y="4705350"/>
            <a:ext cx="1838325" cy="18383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32832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8AE3-0A16-43FF-BA99-8363DCBCDEA4}"/>
              </a:ext>
            </a:extLst>
          </p:cNvPr>
          <p:cNvSpPr>
            <a:spLocks noGrp="1"/>
          </p:cNvSpPr>
          <p:nvPr>
            <p:ph type="title"/>
          </p:nvPr>
        </p:nvSpPr>
        <p:spPr>
          <a:xfrm>
            <a:off x="839787" y="457200"/>
            <a:ext cx="7530489" cy="949569"/>
          </a:xfrm>
        </p:spPr>
        <p:txBody>
          <a:bodyPr>
            <a:normAutofit/>
          </a:bodyPr>
          <a:lstStyle/>
          <a:p>
            <a:r>
              <a:rPr lang="en-US" b="1" dirty="0">
                <a:solidFill>
                  <a:srgbClr val="002060"/>
                </a:solidFill>
                <a:latin typeface="Bahnschrift" panose="020B0502040204020203" pitchFamily="34" charset="0"/>
                <a:cs typeface="Arial" panose="020B0604020202020204" pitchFamily="34" charset="0"/>
              </a:rPr>
              <a:t>HOW CAN I BECOME A TOUR AGENT</a:t>
            </a:r>
            <a:r>
              <a:rPr lang="tg-Cyrl-TJ" b="1" dirty="0">
                <a:solidFill>
                  <a:srgbClr val="002060"/>
                </a:solidFill>
                <a:latin typeface="Bahnschrift" panose="020B0502040204020203" pitchFamily="34" charset="0"/>
                <a:cs typeface="Arial" panose="020B0604020202020204" pitchFamily="34" charset="0"/>
              </a:rPr>
              <a:t>?</a:t>
            </a:r>
            <a:endParaRPr lang="ru-RU" dirty="0">
              <a:solidFill>
                <a:srgbClr val="002060"/>
              </a:solidFill>
              <a:latin typeface="Bahnschrift" panose="020B0502040204020203" pitchFamily="34" charset="0"/>
            </a:endParaRPr>
          </a:p>
        </p:txBody>
      </p:sp>
      <p:pic>
        <p:nvPicPr>
          <p:cNvPr id="6" name="Picture Placeholder 5">
            <a:extLst>
              <a:ext uri="{FF2B5EF4-FFF2-40B4-BE49-F238E27FC236}">
                <a16:creationId xmlns:a16="http://schemas.microsoft.com/office/drawing/2014/main" id="{C4807D07-2712-4F18-9066-4D2B0905942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9937" r="9937"/>
          <a:stretch>
            <a:fillRect/>
          </a:stretch>
        </p:blipFill>
        <p:spPr>
          <a:xfrm>
            <a:off x="7829550" y="1562100"/>
            <a:ext cx="3525838" cy="429895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4" name="Text Placeholder 3">
            <a:extLst>
              <a:ext uri="{FF2B5EF4-FFF2-40B4-BE49-F238E27FC236}">
                <a16:creationId xmlns:a16="http://schemas.microsoft.com/office/drawing/2014/main" id="{815FA39C-6283-4106-B59A-1EE0DC877121}"/>
              </a:ext>
            </a:extLst>
          </p:cNvPr>
          <p:cNvSpPr>
            <a:spLocks noGrp="1"/>
          </p:cNvSpPr>
          <p:nvPr>
            <p:ph type="body" sz="half" idx="2"/>
          </p:nvPr>
        </p:nvSpPr>
        <p:spPr>
          <a:xfrm>
            <a:off x="839787" y="2295524"/>
            <a:ext cx="6484937" cy="3695701"/>
          </a:xfrm>
        </p:spPr>
        <p:txBody>
          <a:bodyPr>
            <a:normAutofit/>
          </a:bodyPr>
          <a:lstStyle/>
          <a:p>
            <a:pPr marL="514350" indent="-514350">
              <a:lnSpc>
                <a:spcPct val="100000"/>
              </a:lnSpc>
              <a:buFont typeface="+mj-lt"/>
              <a:buAutoNum type="arabicPeriod"/>
            </a:pPr>
            <a:r>
              <a:rPr lang="en-US" sz="2400" dirty="0">
                <a:latin typeface="Bahnschrift" panose="020B0502040204020203" pitchFamily="34" charset="0"/>
              </a:rPr>
              <a:t>If you'd like to work with us, please submit an application through our website – </a:t>
            </a:r>
            <a:r>
              <a:rPr lang="en-US" sz="2400" dirty="0">
                <a:latin typeface="Bahnschrift" panose="020B0502040204020203" pitchFamily="34" charset="0"/>
                <a:hlinkClick r:id="rId3"/>
              </a:rPr>
              <a:t>https://bunyodtour.tj</a:t>
            </a:r>
            <a:r>
              <a:rPr lang="en-US" sz="2400" dirty="0">
                <a:latin typeface="Bahnschrift" panose="020B0502040204020203" pitchFamily="34" charset="0"/>
              </a:rPr>
              <a:t>, page "</a:t>
            </a:r>
            <a:r>
              <a:rPr lang="en-US" sz="2400" b="1" dirty="0">
                <a:latin typeface="Bahnschrift" panose="020B0502040204020203" pitchFamily="34" charset="0"/>
              </a:rPr>
              <a:t>Become a Partner</a:t>
            </a:r>
            <a:r>
              <a:rPr lang="en-US" sz="2400" dirty="0">
                <a:latin typeface="Bahnschrift" panose="020B0502040204020203" pitchFamily="34" charset="0"/>
              </a:rPr>
              <a:t>", and read the relevant terms and conditions and partnership agreement</a:t>
            </a:r>
            <a:r>
              <a:rPr lang="ru-RU" sz="2400" dirty="0">
                <a:latin typeface="Bahnschrift" panose="020B0502040204020203" pitchFamily="34" charset="0"/>
              </a:rPr>
              <a:t>.</a:t>
            </a:r>
            <a:endParaRPr lang="tg-Cyrl-TJ" sz="2400" dirty="0">
              <a:latin typeface="Bahnschrift" panose="020B0502040204020203" pitchFamily="34" charset="0"/>
            </a:endParaRPr>
          </a:p>
          <a:p>
            <a:pPr marL="514350" indent="-514350">
              <a:lnSpc>
                <a:spcPct val="100000"/>
              </a:lnSpc>
              <a:buFont typeface="+mj-lt"/>
              <a:buAutoNum type="arabicPeriod"/>
            </a:pPr>
            <a:r>
              <a:rPr lang="en-US" sz="2400" dirty="0">
                <a:latin typeface="Bahnschrift" panose="020B0502040204020203" pitchFamily="34" charset="0"/>
              </a:rPr>
              <a:t>If approved, a confirmation email will be sent to the applicant's email address</a:t>
            </a:r>
            <a:r>
              <a:rPr lang="tg-Cyrl-TJ" sz="2400" dirty="0">
                <a:latin typeface="Bahnschrift" panose="020B0502040204020203" pitchFamily="34" charset="0"/>
              </a:rPr>
              <a:t>.</a:t>
            </a:r>
          </a:p>
        </p:txBody>
      </p:sp>
    </p:spTree>
    <p:extLst>
      <p:ext uri="{BB962C8B-B14F-4D97-AF65-F5344CB8AC3E}">
        <p14:creationId xmlns:p14="http://schemas.microsoft.com/office/powerpoint/2010/main" val="1904235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A2DEF-2224-4BEA-A608-13F0105E5C55}"/>
              </a:ext>
            </a:extLst>
          </p:cNvPr>
          <p:cNvSpPr>
            <a:spLocks noGrp="1"/>
          </p:cNvSpPr>
          <p:nvPr>
            <p:ph type="title"/>
          </p:nvPr>
        </p:nvSpPr>
        <p:spPr>
          <a:xfrm>
            <a:off x="839788" y="457200"/>
            <a:ext cx="7637462" cy="914400"/>
          </a:xfrm>
        </p:spPr>
        <p:txBody>
          <a:bodyPr>
            <a:normAutofit/>
          </a:bodyPr>
          <a:lstStyle/>
          <a:p>
            <a:r>
              <a:rPr lang="en-US" b="1" dirty="0">
                <a:solidFill>
                  <a:srgbClr val="002060"/>
                </a:solidFill>
                <a:latin typeface="Bahnschrift" panose="020B0502040204020203" pitchFamily="34" charset="0"/>
              </a:rPr>
              <a:t>HOW DOES THIS SYSTEM WORK?</a:t>
            </a:r>
            <a:endParaRPr lang="ru-RU" b="1" dirty="0">
              <a:solidFill>
                <a:srgbClr val="002060"/>
              </a:solidFill>
              <a:latin typeface="Bahnschrift" panose="020B0502040204020203" pitchFamily="34" charset="0"/>
            </a:endParaRPr>
          </a:p>
        </p:txBody>
      </p:sp>
      <p:pic>
        <p:nvPicPr>
          <p:cNvPr id="6" name="Picture Placeholder 5">
            <a:extLst>
              <a:ext uri="{FF2B5EF4-FFF2-40B4-BE49-F238E27FC236}">
                <a16:creationId xmlns:a16="http://schemas.microsoft.com/office/drawing/2014/main" id="{B7872217-D7D4-4503-B693-F7A9DB14EF0F}"/>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9809" r="9809"/>
          <a:stretch>
            <a:fillRect/>
          </a:stretch>
        </p:blipFill>
        <p:spPr>
          <a:xfrm>
            <a:off x="8477250" y="2725738"/>
            <a:ext cx="3273780" cy="2970214"/>
          </a:xfrm>
        </p:spPr>
      </p:pic>
      <p:sp>
        <p:nvSpPr>
          <p:cNvPr id="4" name="Text Placeholder 3">
            <a:extLst>
              <a:ext uri="{FF2B5EF4-FFF2-40B4-BE49-F238E27FC236}">
                <a16:creationId xmlns:a16="http://schemas.microsoft.com/office/drawing/2014/main" id="{F376805F-77F1-4A4D-A22A-F809CEE07C4C}"/>
              </a:ext>
            </a:extLst>
          </p:cNvPr>
          <p:cNvSpPr>
            <a:spLocks noGrp="1"/>
          </p:cNvSpPr>
          <p:nvPr>
            <p:ph type="body" sz="half" idx="2"/>
          </p:nvPr>
        </p:nvSpPr>
        <p:spPr>
          <a:xfrm>
            <a:off x="839788" y="2057400"/>
            <a:ext cx="7723187" cy="3811588"/>
          </a:xfrm>
        </p:spPr>
        <p:txBody>
          <a:bodyPr>
            <a:normAutofit/>
          </a:bodyPr>
          <a:lstStyle/>
          <a:p>
            <a:r>
              <a:rPr lang="en-US" sz="2400" dirty="0">
                <a:latin typeface="Bahnschrift" panose="020B0502040204020203" pitchFamily="34" charset="0"/>
              </a:rPr>
              <a:t>The system is very simple and easy:</a:t>
            </a:r>
          </a:p>
          <a:p>
            <a:pPr marL="457200" indent="-457200">
              <a:buFont typeface="+mj-lt"/>
              <a:buAutoNum type="arabicPeriod"/>
            </a:pPr>
            <a:r>
              <a:rPr lang="en-US" sz="2400" dirty="0">
                <a:latin typeface="Bahnschrift" panose="020B0502040204020203" pitchFamily="34" charset="0"/>
              </a:rPr>
              <a:t>After a tourist has finished choosing what they want to do, the tour agent sends the right information to the company through their </a:t>
            </a:r>
            <a:r>
              <a:rPr lang="en-US" sz="2400" b="1" dirty="0">
                <a:latin typeface="Bahnschrift" panose="020B0502040204020203" pitchFamily="34" charset="0"/>
              </a:rPr>
              <a:t>personal account</a:t>
            </a:r>
            <a:r>
              <a:rPr lang="en-US" sz="2400" dirty="0">
                <a:latin typeface="Bahnschrift" panose="020B0502040204020203" pitchFamily="34" charset="0"/>
              </a:rPr>
              <a:t>. This includes the Voucher ID number for the tour that they have ordered.</a:t>
            </a:r>
          </a:p>
          <a:p>
            <a:pPr marL="457200" indent="-457200">
              <a:buFont typeface="+mj-lt"/>
              <a:buAutoNum type="arabicPeriod"/>
            </a:pPr>
            <a:r>
              <a:rPr lang="en-US" sz="2400" dirty="0">
                <a:latin typeface="Bahnschrift" panose="020B0502040204020203" pitchFamily="34" charset="0"/>
              </a:rPr>
              <a:t>Then, the travel agent will receive a confirmation that their order has been accepted.</a:t>
            </a:r>
            <a:endParaRPr lang="ru-RU" sz="2400" dirty="0">
              <a:latin typeface="Bahnschrift" panose="020B0502040204020203" pitchFamily="34" charset="0"/>
            </a:endParaRPr>
          </a:p>
        </p:txBody>
      </p:sp>
      <p:pic>
        <p:nvPicPr>
          <p:cNvPr id="7" name="Рисунок 7">
            <a:extLst>
              <a:ext uri="{FF2B5EF4-FFF2-40B4-BE49-F238E27FC236}">
                <a16:creationId xmlns:a16="http://schemas.microsoft.com/office/drawing/2014/main" id="{62052EAA-9E72-4E94-94BE-2588CAF9B6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48825" y="380207"/>
            <a:ext cx="2078830" cy="20788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41197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56C27CF7-B4F4-4F9F-81C9-02B6B5C8A695}"/>
              </a:ext>
            </a:extLst>
          </p:cNvPr>
          <p:cNvSpPr>
            <a:spLocks noGrp="1"/>
          </p:cNvSpPr>
          <p:nvPr>
            <p:ph type="title"/>
          </p:nvPr>
        </p:nvSpPr>
        <p:spPr>
          <a:xfrm>
            <a:off x="839787" y="992187"/>
            <a:ext cx="5427663" cy="1103313"/>
          </a:xfrm>
        </p:spPr>
        <p:txBody>
          <a:bodyPr>
            <a:normAutofit/>
          </a:bodyPr>
          <a:lstStyle/>
          <a:p>
            <a:r>
              <a:rPr lang="en-US" b="1" dirty="0">
                <a:solidFill>
                  <a:srgbClr val="002060"/>
                </a:solidFill>
                <a:latin typeface="Bahnschrift" panose="020B0502040204020203" pitchFamily="34" charset="0"/>
              </a:rPr>
              <a:t>HOW DOES A TOUR AGENT MAKE MONEY?</a:t>
            </a:r>
            <a:endParaRPr lang="ru-RU" b="1" dirty="0">
              <a:solidFill>
                <a:srgbClr val="002060"/>
              </a:solidFill>
              <a:latin typeface="Bahnschrift" panose="020B0502040204020203" pitchFamily="34" charset="0"/>
            </a:endParaRPr>
          </a:p>
        </p:txBody>
      </p:sp>
      <p:pic>
        <p:nvPicPr>
          <p:cNvPr id="8" name="Рисунок 7">
            <a:extLst>
              <a:ext uri="{FF2B5EF4-FFF2-40B4-BE49-F238E27FC236}">
                <a16:creationId xmlns:a16="http://schemas.microsoft.com/office/drawing/2014/main" id="{97977806-91B8-4E5A-8DF9-4DE39DD4178E}"/>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7136" r="17136"/>
          <a:stretch>
            <a:fillRect/>
          </a:stretch>
        </p:blipFill>
        <p:spPr>
          <a:xfrm>
            <a:off x="6562725" y="992187"/>
            <a:ext cx="5164138" cy="4873625"/>
          </a:xfrm>
        </p:spPr>
      </p:pic>
      <p:sp>
        <p:nvSpPr>
          <p:cNvPr id="6" name="Текст 5">
            <a:extLst>
              <a:ext uri="{FF2B5EF4-FFF2-40B4-BE49-F238E27FC236}">
                <a16:creationId xmlns:a16="http://schemas.microsoft.com/office/drawing/2014/main" id="{F669FEC7-CFEF-4245-8B82-1B8CC4C0CF48}"/>
              </a:ext>
            </a:extLst>
          </p:cNvPr>
          <p:cNvSpPr>
            <a:spLocks noGrp="1"/>
          </p:cNvSpPr>
          <p:nvPr>
            <p:ph type="body" sz="half" idx="2"/>
          </p:nvPr>
        </p:nvSpPr>
        <p:spPr>
          <a:xfrm>
            <a:off x="839788" y="2409826"/>
            <a:ext cx="5570537" cy="3695700"/>
          </a:xfrm>
        </p:spPr>
        <p:txBody>
          <a:bodyPr>
            <a:normAutofit/>
          </a:bodyPr>
          <a:lstStyle/>
          <a:p>
            <a:r>
              <a:rPr lang="en-US" sz="2400" dirty="0">
                <a:latin typeface="Bahnschrift" panose="020B0502040204020203" pitchFamily="34" charset="0"/>
              </a:rPr>
              <a:t>Tour agents get a commission of 10% (15% for ATACA members) of the tour price for selling the tour product.</a:t>
            </a:r>
          </a:p>
          <a:p>
            <a:endParaRPr lang="en-US" sz="2400" dirty="0">
              <a:latin typeface="Bahnschrift" panose="020B0502040204020203" pitchFamily="34" charset="0"/>
            </a:endParaRPr>
          </a:p>
          <a:p>
            <a:r>
              <a:rPr lang="en-US" sz="2400" dirty="0">
                <a:latin typeface="Bahnschrift" panose="020B0502040204020203" pitchFamily="34" charset="0"/>
              </a:rPr>
              <a:t>The money for the tour will be paid to the tour agent within 10 days of the tour finishing</a:t>
            </a:r>
            <a:r>
              <a:rPr lang="ru-RU" sz="2400" dirty="0">
                <a:latin typeface="Bahnschrift" panose="020B0502040204020203" pitchFamily="34" charset="0"/>
              </a:rPr>
              <a:t>.</a:t>
            </a:r>
          </a:p>
        </p:txBody>
      </p:sp>
    </p:spTree>
    <p:extLst>
      <p:ext uri="{BB962C8B-B14F-4D97-AF65-F5344CB8AC3E}">
        <p14:creationId xmlns:p14="http://schemas.microsoft.com/office/powerpoint/2010/main" val="308122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A36FF624-DA01-4405-A797-F456938128AF}"/>
              </a:ext>
            </a:extLst>
          </p:cNvPr>
          <p:cNvSpPr>
            <a:spLocks noGrp="1"/>
          </p:cNvSpPr>
          <p:nvPr>
            <p:ph type="title"/>
          </p:nvPr>
        </p:nvSpPr>
        <p:spPr>
          <a:xfrm>
            <a:off x="720969" y="252393"/>
            <a:ext cx="11078307" cy="1325563"/>
          </a:xfrm>
        </p:spPr>
        <p:txBody>
          <a:bodyPr/>
          <a:lstStyle/>
          <a:p>
            <a:pPr algn="ctr"/>
            <a:r>
              <a:rPr lang="en-US" b="1" i="1" dirty="0">
                <a:solidFill>
                  <a:srgbClr val="002060"/>
                </a:solidFill>
              </a:rPr>
              <a:t>Come and join us, and you can achieve success!</a:t>
            </a:r>
            <a:endParaRPr lang="ru-RU" b="1" i="1" dirty="0">
              <a:solidFill>
                <a:srgbClr val="002060"/>
              </a:solidFill>
            </a:endParaRPr>
          </a:p>
        </p:txBody>
      </p:sp>
      <p:pic>
        <p:nvPicPr>
          <p:cNvPr id="7" name="Рисунок 6">
            <a:extLst>
              <a:ext uri="{FF2B5EF4-FFF2-40B4-BE49-F238E27FC236}">
                <a16:creationId xmlns:a16="http://schemas.microsoft.com/office/drawing/2014/main" id="{C087BA92-1A53-49DF-AA22-30FA283601A8}"/>
              </a:ext>
            </a:extLst>
          </p:cNvPr>
          <p:cNvPicPr>
            <a:picLocks noChangeAspect="1"/>
          </p:cNvPicPr>
          <p:nvPr/>
        </p:nvPicPr>
        <p:blipFill>
          <a:blip r:embed="rId2">
            <a:clrChange>
              <a:clrFrom>
                <a:srgbClr val="ECECED"/>
              </a:clrFrom>
              <a:clrTo>
                <a:srgbClr val="ECECED">
                  <a:alpha val="0"/>
                </a:srgbClr>
              </a:clrTo>
            </a:clrChange>
            <a:extLst>
              <a:ext uri="{28A0092B-C50C-407E-A947-70E740481C1C}">
                <a14:useLocalDpi xmlns:a14="http://schemas.microsoft.com/office/drawing/2010/main" val="0"/>
              </a:ext>
            </a:extLst>
          </a:blip>
          <a:stretch>
            <a:fillRect/>
          </a:stretch>
        </p:blipFill>
        <p:spPr>
          <a:xfrm>
            <a:off x="2298581" y="1552904"/>
            <a:ext cx="7594839" cy="4802185"/>
          </a:xfrm>
          <a:prstGeom prst="rect">
            <a:avLst/>
          </a:prstGeom>
        </p:spPr>
      </p:pic>
    </p:spTree>
    <p:extLst>
      <p:ext uri="{BB962C8B-B14F-4D97-AF65-F5344CB8AC3E}">
        <p14:creationId xmlns:p14="http://schemas.microsoft.com/office/powerpoint/2010/main" val="21240585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465</TotalTime>
  <Words>544</Words>
  <Application>Microsoft Office PowerPoint</Application>
  <PresentationFormat>Widescreen</PresentationFormat>
  <Paragraphs>34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Bahnschrift</vt:lpstr>
      <vt:lpstr>Calibri</vt:lpstr>
      <vt:lpstr>Calibri Light</vt:lpstr>
      <vt:lpstr>Wingdings</vt:lpstr>
      <vt:lpstr>Тема Office</vt:lpstr>
      <vt:lpstr>Affiliate program «TOUR AGENT»</vt:lpstr>
      <vt:lpstr>PROGRAM PURPOSE</vt:lpstr>
      <vt:lpstr>BUNYYOD-TOUR LLC</vt:lpstr>
      <vt:lpstr>Who can become a tour partner (TOUR agent)?</vt:lpstr>
      <vt:lpstr>WHAT ARE THE MAIN RESPONSIBILITIES OF A TOUR AGENT?</vt:lpstr>
      <vt:lpstr>WHAT IS A TOURIST PRODUCT?</vt:lpstr>
      <vt:lpstr>HOW CAN I BECOME A TOUR AGENT?</vt:lpstr>
      <vt:lpstr>HOW DOES THIS SYSTEM WORK?</vt:lpstr>
      <vt:lpstr>HOW DOES A TOUR AGENT MAKE MONEY?</vt:lpstr>
      <vt:lpstr>Come and join us, and you can achieve success!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Барномаи «ТУР-агент» (барои шахсони воқеӣ)</dc:title>
  <dc:creator>Қиёмиддин Миралиён</dc:creator>
  <cp:lastModifiedBy>Қиёмиддин Миралиён</cp:lastModifiedBy>
  <cp:revision>53</cp:revision>
  <dcterms:created xsi:type="dcterms:W3CDTF">2025-07-25T14:18:45Z</dcterms:created>
  <dcterms:modified xsi:type="dcterms:W3CDTF">2026-04-28T12:03:51Z</dcterms:modified>
</cp:coreProperties>
</file>