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74" r:id="rId4"/>
    <p:sldId id="273" r:id="rId5"/>
    <p:sldId id="258" r:id="rId6"/>
    <p:sldId id="259" r:id="rId7"/>
    <p:sldId id="275" r:id="rId8"/>
    <p:sldId id="276" r:id="rId9"/>
    <p:sldId id="264" r:id="rId10"/>
    <p:sldId id="27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B55D3-3DA3-43B8-A577-9A642CD28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CADD0-8C0D-411D-8FDD-23AFAEEDF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7C4286-A058-4F55-A56F-207FAC0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EE3377-BEAB-4DFF-BB6F-E28560C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3F4F51-6C1C-4D84-A55A-202DE0CD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55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48C1F-52FD-4EE3-866B-36EDCC12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F4FE08-1CE0-4A97-B141-FA34AF320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D4AC0-1CB7-48E8-9875-7B0432C5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59F3E4-6745-4887-B8DC-B181E52B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BF2EB1-E061-49C7-9695-E2033EC6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21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0086A-4C2F-4CCD-8C38-24900F53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DCA6DD-AAD6-407B-9D04-7A33F6336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9A2C75-0E87-4AF1-8B9F-9D16C78D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81B90-C645-44B9-B9B3-7A0930E3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1E5F1-4359-4B8F-8C2B-AF290310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41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29E51-C176-4348-B621-DBF45D4F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9C9099-2230-4C3A-99B8-56256BB9C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F980E5-C8C7-4054-85A7-A9218E151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7BB25D-906B-413B-A0C5-60B07E38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7F58D3-621F-4BAF-9E68-EF039388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FAD987-DC9B-42C5-9E2D-37BA8FE0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81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86526-964B-4B74-B127-7DB8488C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A5546B-E3CE-4C2A-A562-EBF224362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8BC443-46D3-416A-B8F6-550D0CAB1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5B2A2F-9B1A-4F33-B3E9-45BA4273A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63CBA4-4CC1-4FCF-AD11-C1799C805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7B899D-8CA0-49C8-95A0-176E1033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CADBDE-B9AA-4184-82BA-B72FC92C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18D404-1B17-445C-B27E-3DFCBA5A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025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37B7-58EE-403B-8763-8B17E50C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CF91F1-896C-4972-9E9B-229389D2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392380-4078-4764-B088-F67081D1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2BEF5A-DB57-4B76-BF14-0D98FCD5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E2BBBC-6C49-4A48-9907-C5AE7EB5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0EC3D8-BD63-4D51-B20A-72410F0F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570192-B62A-4717-A0B7-2A85EF9C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77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6C7FD-C63D-4A23-BDF9-E0E081DD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F70D5A-3707-468D-BF93-C20DBF5CF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9CF440-7560-429A-A0B6-6072A91D2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CB2F70-2EBB-49FE-94E3-CED8E9DE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46AAE8-7B79-4F08-AACD-F5013A20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055D02-5A33-47E8-9F0B-645CF35F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27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11723-C6EF-4047-B633-176563BC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45D3DCC-4BE9-47F8-8732-69C2AF2DF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E076A-ADE8-4912-ABD3-C931D5195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9F7F61-B965-4312-8C50-BDEF6350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154256-C785-4873-80AA-C0F8C7C1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C81887-8D4B-4BBA-9DF0-F97C6CD0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78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1A480-F980-47AD-A96C-0C9BFA8C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BAEFB4-BA2C-4167-837D-5256DEFDB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E3A2F-F898-4A19-8F84-0DB76099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73D0D7-8857-4F9C-A398-165AE4DB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3C9B99-1C35-495D-A04A-CBA46534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39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69DEBA-F92E-47AE-8209-550E46DB7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6DA02C-F19C-495F-A667-DFA67C1B8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7397F-0100-4E7D-AA47-C797A7AB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647112-776C-428F-B800-BE82F633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CF915E-086D-4B65-B4D3-4B0FE879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36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8C08A-6788-4922-B2AA-6CF24446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F4BE19-55FD-41D1-9A26-447076C36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C6CC41-608F-436A-968C-288D93EED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AE0D8-E107-46AF-B0B6-B8C0A3E14834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227F95-0519-4CC3-B7DF-856E4133A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CCF555-555E-4F3C-9466-F3B7E496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606D0-9580-416A-B78D-133934976A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2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bunyodtour.tj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unyodtour.tj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unyodtour.tj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7E029-B415-48CE-BAC5-224B2F112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943" y="1608203"/>
            <a:ext cx="9282113" cy="2387600"/>
          </a:xfrm>
        </p:spPr>
        <p:txBody>
          <a:bodyPr>
            <a:normAutofit fontScale="90000"/>
          </a:bodyPr>
          <a:lstStyle/>
          <a:p>
            <a:r>
              <a:rPr lang="ru-RU" b="1" cap="all" dirty="0">
                <a:solidFill>
                  <a:srgbClr val="002060"/>
                </a:solidFill>
                <a:latin typeface="Bahnschrift" panose="020B0502040204020203" pitchFamily="34" charset="0"/>
              </a:rPr>
              <a:t>Партнёрская программа </a:t>
            </a:r>
            <a:br>
              <a:rPr lang="ru-RU" b="1" cap="all" dirty="0">
                <a:solidFill>
                  <a:srgbClr val="002060"/>
                </a:solidFill>
                <a:latin typeface="Bahnschrift" panose="020B0502040204020203" pitchFamily="34" charset="0"/>
              </a:rPr>
            </a:br>
            <a:r>
              <a:rPr lang="ru-RU" sz="11500" b="1" cap="all" dirty="0">
                <a:solidFill>
                  <a:srgbClr val="002060"/>
                </a:solidFill>
                <a:latin typeface="Bahnschrift" panose="020B0502040204020203" pitchFamily="34" charset="0"/>
              </a:rPr>
              <a:t>«</a:t>
            </a:r>
            <a:r>
              <a:rPr lang="tg-Cyrl-TJ" sz="11500" b="1" cap="all" dirty="0">
                <a:solidFill>
                  <a:srgbClr val="002060"/>
                </a:solidFill>
                <a:latin typeface="Bahnschrift" panose="020B0502040204020203" pitchFamily="34" charset="0"/>
              </a:rPr>
              <a:t>ТУР-</a:t>
            </a:r>
            <a:r>
              <a:rPr lang="ru-RU" sz="11500" b="1" cap="all" dirty="0">
                <a:solidFill>
                  <a:srgbClr val="002060"/>
                </a:solidFill>
                <a:latin typeface="Bahnschrift" panose="020B0502040204020203" pitchFamily="34" charset="0"/>
              </a:rPr>
              <a:t>агент»</a:t>
            </a:r>
            <a:endParaRPr lang="ru-RU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77974B-230E-432F-8EF0-F42385B569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24" y="4392327"/>
            <a:ext cx="5939709" cy="17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6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2BC1BD-19FB-434E-B674-308E17E8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78581"/>
            <a:ext cx="3560762" cy="1312144"/>
          </a:xfrm>
        </p:spPr>
        <p:txBody>
          <a:bodyPr anchor="t">
            <a:normAutofit/>
          </a:bodyPr>
          <a:lstStyle/>
          <a:p>
            <a:r>
              <a:rPr lang="ru-RU" sz="3600" b="1" cap="all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Цель программы</a:t>
            </a:r>
            <a:endParaRPr lang="ru-RU" sz="3600" b="1" dirty="0">
              <a:solidFill>
                <a:srgbClr val="002060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6E66E8-27FB-4933-BDE9-939744C84E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6" r="6587"/>
          <a:stretch/>
        </p:blipFill>
        <p:spPr>
          <a:xfrm>
            <a:off x="4772025" y="678581"/>
            <a:ext cx="6781800" cy="5400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9AC77105-48AF-465B-B82E-1DE6120C9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90725"/>
            <a:ext cx="3817937" cy="425519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Данная программа в рамках деятельности ООО «</a:t>
            </a:r>
            <a:r>
              <a:rPr lang="ru-RU" sz="2400" dirty="0" err="1">
                <a:latin typeface="Bahnschrift" panose="020B0502040204020203" pitchFamily="34" charset="0"/>
                <a:cs typeface="Arial" panose="020B0604020202020204" pitchFamily="34" charset="0"/>
              </a:rPr>
              <a:t>Бунёд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-Тур» представлена ​​как лояльная партнёрская платформа, условие сотрудничества и возможность найти доступное место и вид занятости (профессии) для соответствующих групп лиц.</a:t>
            </a:r>
          </a:p>
        </p:txBody>
      </p:sp>
    </p:spTree>
    <p:extLst>
      <p:ext uri="{BB962C8B-B14F-4D97-AF65-F5344CB8AC3E}">
        <p14:creationId xmlns:p14="http://schemas.microsoft.com/office/powerpoint/2010/main" val="192159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2BC1BD-19FB-434E-B674-308E17E8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78581"/>
            <a:ext cx="5427662" cy="1599106"/>
          </a:xfrm>
        </p:spPr>
        <p:txBody>
          <a:bodyPr anchor="t">
            <a:normAutofit/>
          </a:bodyPr>
          <a:lstStyle/>
          <a:p>
            <a:r>
              <a:rPr lang="ru-RU" sz="3600" b="1" cap="all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ООО «</a:t>
            </a:r>
            <a:r>
              <a:rPr lang="ru-RU" sz="3600" b="1" cap="all" dirty="0" err="1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бунёд</a:t>
            </a:r>
            <a:r>
              <a:rPr lang="ru-RU" sz="3600" b="1" cap="all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-тур»</a:t>
            </a:r>
            <a:endParaRPr lang="ru-RU" sz="3600" b="1" dirty="0">
              <a:solidFill>
                <a:srgbClr val="002060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6E66E8-27FB-4933-BDE9-939744C84E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25" y="221382"/>
            <a:ext cx="1526380" cy="152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9AC77105-48AF-465B-B82E-1DE6120C9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19250"/>
            <a:ext cx="10771188" cy="45601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Общество с ограниченной ответственностью «</a:t>
            </a:r>
            <a:r>
              <a:rPr lang="ru-RU" sz="2400" dirty="0" err="1">
                <a:latin typeface="Bahnschrift" panose="020B0502040204020203" pitchFamily="34" charset="0"/>
                <a:cs typeface="Arial" panose="020B0604020202020204" pitchFamily="34" charset="0"/>
              </a:rPr>
              <a:t>Бунёд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-Тур» — региональная туристическая компания, основанная в 2017 году в городе Душанбе, Таджикистан (лицензия № 0000253 от 25 октября 2022 года). Основным видом деятельности является въездной туризм, направленный на прием иностранных туристов и предоставление им услуг в Таджикистане и странах Центральной Азии.   </a:t>
            </a:r>
          </a:p>
          <a:p>
            <a:pPr>
              <a:lnSpc>
                <a:spcPct val="100000"/>
              </a:lnSpc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«</a:t>
            </a:r>
            <a:r>
              <a:rPr lang="ru-RU" sz="2400" dirty="0" err="1">
                <a:latin typeface="Bahnschrift" panose="020B0502040204020203" pitchFamily="34" charset="0"/>
                <a:cs typeface="Arial" panose="020B0604020202020204" pitchFamily="34" charset="0"/>
              </a:rPr>
              <a:t>Бунёд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-Тур» располагает онлайн-порталом заказа туристических продуктов (один из первых в Центральной Азии), более 200 туристических маршрутов (туров), представляет транспортные (трансфер) и тур-гид услуги; системой самостоятельной, автономной (онлайн) разработки туристического маршрута. Компания сотрудничает с более чем 50 региональными и международными организациями. В частности, имеет постоянных партнёров в странах Центральной Азии и реализует комбинированные (региональные) туры. </a:t>
            </a:r>
            <a:endParaRPr lang="ru-RU" sz="36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87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A2BC1BD-19FB-434E-B674-308E17E8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78581"/>
            <a:ext cx="7799387" cy="1216722"/>
          </a:xfrm>
        </p:spPr>
        <p:txBody>
          <a:bodyPr anchor="t">
            <a:normAutofit/>
          </a:bodyPr>
          <a:lstStyle/>
          <a:p>
            <a:r>
              <a:rPr lang="ru-RU" b="1" cap="all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Кто может стать тур-партнером (турагентом)?</a:t>
            </a:r>
            <a:endParaRPr lang="ru-RU" b="1" dirty="0">
              <a:solidFill>
                <a:srgbClr val="002060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6E66E8-27FB-4933-BDE9-939744C84E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6" r="6587"/>
          <a:stretch/>
        </p:blipFill>
        <p:spPr>
          <a:xfrm>
            <a:off x="5874249" y="2541173"/>
            <a:ext cx="5967706" cy="337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9AC77105-48AF-465B-B82E-1DE6120C9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95303"/>
            <a:ext cx="4827587" cy="43506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Нашими тур-партнерами могут стать следующие группы 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туристические компании;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блогеры;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специалисты туристической отрасли;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пратиканты;</a:t>
            </a:r>
            <a:endParaRPr lang="en-US" sz="2400" dirty="0"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400" dirty="0" err="1">
                <a:latin typeface="Bahnschrift" panose="020B0502040204020203" pitchFamily="34" charset="0"/>
                <a:cs typeface="Arial" panose="020B0604020202020204" pitchFamily="34" charset="0"/>
              </a:rPr>
              <a:t>филансеры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;</a:t>
            </a:r>
            <a:endParaRPr lang="tg-Cyrl-TJ" sz="2400" dirty="0"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ищущие работу, а также студенты.</a:t>
            </a: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741A2938-CDC6-4933-ACC2-9D0166B10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25" y="364257"/>
            <a:ext cx="1964530" cy="19645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63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FD35F-8BFC-44D8-A779-23B4CF1B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465" y="669923"/>
            <a:ext cx="6647259" cy="831851"/>
          </a:xfrm>
        </p:spPr>
        <p:txBody>
          <a:bodyPr anchor="t">
            <a:noAutofit/>
          </a:bodyPr>
          <a:lstStyle/>
          <a:p>
            <a:r>
              <a:rPr lang="tg-Cyrl-TJ" b="1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КАКОВЫ ОСНОВНЫЕ ОБЯЗАТЕЛСЬТВА ТУРАГЕНТА?</a:t>
            </a:r>
            <a:endParaRPr lang="ru-RU" b="1" dirty="0">
              <a:solidFill>
                <a:srgbClr val="002060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4E60D9-AFAD-4BF6-9E39-24C1B3E7A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8463" y="2000250"/>
            <a:ext cx="9123761" cy="401955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Посредством сайта </a:t>
            </a:r>
            <a:r>
              <a:rPr lang="tg-Cyrl-TJ" sz="2400" u="sng" dirty="0">
                <a:latin typeface="Bahnschrift" panose="020B0502040204020203" pitchFamily="34" charset="0"/>
                <a:cs typeface="Arial" panose="020B0604020202020204" pitchFamily="34" charset="0"/>
                <a:hlinkClick r:id="rId2"/>
              </a:rPr>
              <a:t>https://bunyodtour.tj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:</a:t>
            </a:r>
          </a:p>
          <a:p>
            <a:pPr marL="914400" lvl="1" indent="-457200">
              <a:buFont typeface="+mj-lt"/>
              <a:buAutoNum type="alphaLcPeriod"/>
            </a:pP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реализация (продажа) туристических продуктов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(тур пакетов) 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предложение туристических продуктов (тур пакетов) иностранным туристам всеми доступными способами, включая выставки и Интернет.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продвижение (реклама) туристских продуктов всеми доступными средствами, особенно через Интернет, и привлечение иностранных туристов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Разработка и реализация специального туристического продукта с использованием возможностей Компании</a:t>
            </a:r>
            <a:r>
              <a:rPr lang="tg-Cyrl-TJ" sz="2400" dirty="0">
                <a:latin typeface="Bahnschrift" panose="020B0502040204020203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69D394A4-5A59-441C-95B0-AF183ACBC1E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449982"/>
            <a:ext cx="2078830" cy="2078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703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E98B0-68A4-4623-94FC-197243AC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9" y="314325"/>
            <a:ext cx="6105525" cy="1104900"/>
          </a:xfrm>
        </p:spPr>
        <p:txBody>
          <a:bodyPr>
            <a:normAutofit/>
          </a:bodyPr>
          <a:lstStyle/>
          <a:p>
            <a:r>
              <a:rPr lang="tg-Cyrl-TJ" b="1" dirty="0">
                <a:solidFill>
                  <a:srgbClr val="002060"/>
                </a:solidFill>
                <a:latin typeface="Bahnschrift" panose="020B0502040204020203" pitchFamily="34" charset="0"/>
              </a:rPr>
              <a:t>ЧТО ТАКОЕ ТУРИСТИЧЕСКИЙ ПРОДУКТ?</a:t>
            </a:r>
            <a:endParaRPr lang="ru-RU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D335E6-C9D5-4F12-A629-3A9F9440D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7275" y="1752601"/>
            <a:ext cx="4505326" cy="46196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g-Cyrl-TJ" sz="2400" dirty="0">
                <a:latin typeface="Bahnschrift" panose="020B0502040204020203" pitchFamily="34" charset="0"/>
              </a:rPr>
              <a:t>Туристический продукт, это туры и туристические услуги, которые представлены (опубликованны) на нашем сайте - </a:t>
            </a:r>
            <a:r>
              <a:rPr lang="tg-Cyrl-TJ" sz="2400" u="sng" dirty="0">
                <a:latin typeface="Bahnschrift" panose="020B0502040204020203" pitchFamily="34" charset="0"/>
                <a:hlinkClick r:id="rId2"/>
              </a:rPr>
              <a:t>https://bunyodtour.tj</a:t>
            </a:r>
            <a:r>
              <a:rPr lang="tg-Cyrl-TJ" sz="2400" dirty="0">
                <a:latin typeface="Bahnschrift" panose="020B0502040204020203" pitchFamily="34" charset="0"/>
              </a:rPr>
              <a:t> и доступны для представления туристам.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0A474-F3F9-47BF-B1EE-CDDBB34C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728" y="1608490"/>
            <a:ext cx="5938297" cy="47923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36CC87-AABF-4EE2-A8F3-55C1019523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5" y="4705350"/>
            <a:ext cx="1838325" cy="1838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2832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8AE3-0A16-43FF-BA99-8363DCBC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856412" cy="1485900"/>
          </a:xfrm>
        </p:spPr>
        <p:txBody>
          <a:bodyPr>
            <a:normAutofit/>
          </a:bodyPr>
          <a:lstStyle/>
          <a:p>
            <a:r>
              <a:rPr lang="tg-Cyrl-TJ" b="1" dirty="0">
                <a:solidFill>
                  <a:srgbClr val="00206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КАК МОЖНО СТАТЬ ТУРАГЕНТОМ?</a:t>
            </a:r>
            <a:endParaRPr lang="ru-RU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4807D07-2712-4F18-9066-4D2B0905942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7" r="9937"/>
          <a:stretch>
            <a:fillRect/>
          </a:stretch>
        </p:blipFill>
        <p:spPr>
          <a:xfrm>
            <a:off x="7829550" y="1562100"/>
            <a:ext cx="3525838" cy="42989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FA39C-6283-4106-B59A-1EE0DC877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295524"/>
            <a:ext cx="6484937" cy="3695701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Bahnschrift" panose="020B0502040204020203" pitchFamily="34" charset="0"/>
              </a:rPr>
              <a:t>Для сотрудничества или партнерства с нами необходимо подать заявку через наш сайт - </a:t>
            </a:r>
            <a:r>
              <a:rPr lang="ru-RU" sz="2400" dirty="0">
                <a:latin typeface="Bahnschrift" panose="020B0502040204020203" pitchFamily="34" charset="0"/>
                <a:hlinkClick r:id="rId3"/>
              </a:rPr>
              <a:t>https://bunyodtour.tj</a:t>
            </a:r>
            <a:r>
              <a:rPr lang="ru-RU" sz="2400" dirty="0">
                <a:latin typeface="Bahnschrift" panose="020B0502040204020203" pitchFamily="34" charset="0"/>
              </a:rPr>
              <a:t>, страница «Стать Тур-партнером», ознакомиться с соответствующими условиями и соглашением о партнерстве.</a:t>
            </a:r>
            <a:endParaRPr lang="tg-Cyrl-TJ" sz="2400" dirty="0">
              <a:latin typeface="Bahnschrift" panose="020B0502040204020203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Bahnschrift" panose="020B0502040204020203" pitchFamily="34" charset="0"/>
              </a:rPr>
              <a:t>В случае одобрения на адрес электронной почты заявителя будет отправлено письмо подтверждение</a:t>
            </a:r>
            <a:r>
              <a:rPr lang="tg-Cyrl-TJ" sz="2400" dirty="0"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23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A2DEF-2224-4BEA-A608-13F0105E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7462" cy="1333500"/>
          </a:xfrm>
        </p:spPr>
        <p:txBody>
          <a:bodyPr>
            <a:normAutofit/>
          </a:bodyPr>
          <a:lstStyle/>
          <a:p>
            <a:r>
              <a:rPr lang="tg-Cyrl-TJ" b="1" dirty="0">
                <a:solidFill>
                  <a:srgbClr val="002060"/>
                </a:solidFill>
                <a:latin typeface="Bahnschrift" panose="020B0502040204020203" pitchFamily="34" charset="0"/>
              </a:rPr>
              <a:t>КАК РАБОТАТЕТ ЭТО СИСТЕМА?</a:t>
            </a:r>
            <a:endParaRPr lang="ru-RU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7872217-D7D4-4503-B693-F7A9DB14EF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9" r="9809"/>
          <a:stretch>
            <a:fillRect/>
          </a:stretch>
        </p:blipFill>
        <p:spPr>
          <a:xfrm>
            <a:off x="8477250" y="2725738"/>
            <a:ext cx="3273780" cy="297021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6805F-77F1-4A4D-A22A-F809CEE07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7723187" cy="3811588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Система очень проста и легка</a:t>
            </a:r>
            <a:r>
              <a:rPr lang="tg-Cyrl-TJ" sz="2400" dirty="0">
                <a:latin typeface="Bahnschrift" panose="020B0502040204020203" pitchFamily="34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Bahnschrift" panose="020B0502040204020203" pitchFamily="34" charset="0"/>
              </a:rPr>
              <a:t>После завершение заказа туристического пакета туристом, Турагент направляет в компанию через личный кабинет соответствующую информацию, включая порядковый номер (ID) Ваучера заказанного тура (полученный от туриста) в качестве запроса на выполненный заказ.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Bahnschrift" panose="020B0502040204020203" pitchFamily="34" charset="0"/>
              </a:rPr>
              <a:t>Следовательно, на личный кабинет Турагента отправляется подтверждение о принятии заказа.  </a:t>
            </a:r>
          </a:p>
        </p:txBody>
      </p:sp>
      <p:pic>
        <p:nvPicPr>
          <p:cNvPr id="7" name="Рисунок 7">
            <a:extLst>
              <a:ext uri="{FF2B5EF4-FFF2-40B4-BE49-F238E27FC236}">
                <a16:creationId xmlns:a16="http://schemas.microsoft.com/office/drawing/2014/main" id="{62052EAA-9E72-4E94-94BE-2588CAF9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825" y="380207"/>
            <a:ext cx="2078830" cy="2078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119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C27CF7-B4F4-4F9F-81C9-02B6B5C8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992187"/>
            <a:ext cx="5427663" cy="1103313"/>
          </a:xfrm>
        </p:spPr>
        <p:txBody>
          <a:bodyPr>
            <a:normAutofit/>
          </a:bodyPr>
          <a:lstStyle/>
          <a:p>
            <a:r>
              <a:rPr lang="tg-Cyrl-TJ" b="1" dirty="0">
                <a:solidFill>
                  <a:srgbClr val="002060"/>
                </a:solidFill>
                <a:latin typeface="Bahnschrift" panose="020B0502040204020203" pitchFamily="34" charset="0"/>
              </a:rPr>
              <a:t>КАК ЗАРАБАТЫВАЕТ ТУРАГЕНТ?</a:t>
            </a:r>
            <a:endParaRPr lang="ru-RU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977806-91B8-4E5A-8DF9-4DE39DD4178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36" r="17136"/>
          <a:stretch>
            <a:fillRect/>
          </a:stretch>
        </p:blipFill>
        <p:spPr>
          <a:xfrm>
            <a:off x="6562725" y="992187"/>
            <a:ext cx="5164138" cy="4873625"/>
          </a:xfr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F669FEC7-CFEF-4245-8B82-1B8CC4C0C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09826"/>
            <a:ext cx="5570537" cy="369570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Турагент получает вознаграждению (комиссию) в размере </a:t>
            </a:r>
            <a:r>
              <a:rPr lang="ru-RU" sz="2400" b="1" dirty="0">
                <a:latin typeface="Bahnschrift" panose="020B0502040204020203" pitchFamily="34" charset="0"/>
              </a:rPr>
              <a:t>10%</a:t>
            </a:r>
            <a:r>
              <a:rPr lang="ru-RU" sz="2400" dirty="0">
                <a:latin typeface="Bahnschrift" panose="020B0502040204020203" pitchFamily="34" charset="0"/>
              </a:rPr>
              <a:t> (для членов АТАЦА — </a:t>
            </a:r>
            <a:r>
              <a:rPr lang="ru-RU" sz="2400" b="1" dirty="0">
                <a:latin typeface="Bahnschrift" panose="020B0502040204020203" pitchFamily="34" charset="0"/>
              </a:rPr>
              <a:t>15%</a:t>
            </a:r>
            <a:r>
              <a:rPr lang="ru-RU" sz="2400" dirty="0">
                <a:latin typeface="Bahnschrift" panose="020B0502040204020203" pitchFamily="34" charset="0"/>
              </a:rPr>
              <a:t>) от стоимости тура за реализацию (продажу) туристического продукта.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Эта сумма переводится на банковский счет или карту Турагента в течение </a:t>
            </a:r>
            <a:r>
              <a:rPr lang="ru-RU" sz="2400" b="1" dirty="0">
                <a:latin typeface="Bahnschrift" panose="020B0502040204020203" pitchFamily="34" charset="0"/>
              </a:rPr>
              <a:t>10 дней </a:t>
            </a:r>
            <a:r>
              <a:rPr lang="ru-RU" sz="2400" dirty="0">
                <a:latin typeface="Bahnschrift" panose="020B0502040204020203" pitchFamily="34" charset="0"/>
              </a:rPr>
              <a:t>с момента завершения тура.</a:t>
            </a:r>
          </a:p>
        </p:txBody>
      </p:sp>
    </p:spTree>
    <p:extLst>
      <p:ext uri="{BB962C8B-B14F-4D97-AF65-F5344CB8AC3E}">
        <p14:creationId xmlns:p14="http://schemas.microsoft.com/office/powerpoint/2010/main" val="308122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36FF624-DA01-4405-A797-F4569381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52393"/>
            <a:ext cx="8934450" cy="1325563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002060"/>
                </a:solidFill>
              </a:rPr>
              <a:t>Будьте с нами, добивайтесь успеха!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87BA92-1A53-49DF-AA22-30FA283601A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CECED"/>
              </a:clrFrom>
              <a:clrTo>
                <a:srgbClr val="ECEC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581" y="1552904"/>
            <a:ext cx="7594839" cy="480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58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483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</vt:lpstr>
      <vt:lpstr>Calibri</vt:lpstr>
      <vt:lpstr>Calibri Light</vt:lpstr>
      <vt:lpstr>Wingdings</vt:lpstr>
      <vt:lpstr>Тема Office</vt:lpstr>
      <vt:lpstr>Партнёрская программа  «ТУР-агент»</vt:lpstr>
      <vt:lpstr>Цель программы</vt:lpstr>
      <vt:lpstr>ООО «бунёд-тур»</vt:lpstr>
      <vt:lpstr>Кто может стать тур-партнером (турагентом)?</vt:lpstr>
      <vt:lpstr>КАКОВЫ ОСНОВНЫЕ ОБЯЗАТЕЛСЬТВА ТУРАГЕНТА?</vt:lpstr>
      <vt:lpstr>ЧТО ТАКОЕ ТУРИСТИЧЕСКИЙ ПРОДУКТ?</vt:lpstr>
      <vt:lpstr>КАК МОЖНО СТАТЬ ТУРАГЕНТОМ?</vt:lpstr>
      <vt:lpstr>КАК РАБОТАТЕТ ЭТО СИСТЕМА?</vt:lpstr>
      <vt:lpstr>КАК ЗАРАБАТЫВАЕТ ТУРАГЕНТ?</vt:lpstr>
      <vt:lpstr>Будьте с нами, добивайтесь успеха!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Барномаи «ТУР-агент» (барои шахсони воқеӣ)</dc:title>
  <dc:creator>Қиёмиддин Миралиён</dc:creator>
  <cp:lastModifiedBy>Қиёмиддин Миралиён</cp:lastModifiedBy>
  <cp:revision>49</cp:revision>
  <dcterms:created xsi:type="dcterms:W3CDTF">2025-07-25T14:18:45Z</dcterms:created>
  <dcterms:modified xsi:type="dcterms:W3CDTF">2026-04-28T12:05:20Z</dcterms:modified>
</cp:coreProperties>
</file>